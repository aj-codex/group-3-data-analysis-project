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ppt/theme/themeOverride6.xml" ContentType="application/vnd.openxmlformats-officedocument.themeOverride+xml"/>
  <Override PartName="/ppt/theme/themeOverride7.xml" ContentType="application/vnd.openxmlformats-officedocument.themeOverride+xml"/>
  <Override PartName="/ppt/theme/themeOverride8.xml" ContentType="application/vnd.openxmlformats-officedocument.themeOverride+xml"/>
  <Override PartName="/ppt/theme/themeOverride9.xml" ContentType="application/vnd.openxmlformats-officedocument.themeOverride+xml"/>
  <Override PartName="/ppt/theme/themeOverride10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0" r:id="rId1"/>
  </p:sldMasterIdLst>
  <p:sldIdLst>
    <p:sldId id="256" r:id="rId2"/>
    <p:sldId id="257" r:id="rId3"/>
    <p:sldId id="258" r:id="rId4"/>
    <p:sldId id="259" r:id="rId5"/>
    <p:sldId id="262" r:id="rId6"/>
    <p:sldId id="267" r:id="rId7"/>
    <p:sldId id="260" r:id="rId8"/>
    <p:sldId id="261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F3A8A"/>
    <a:srgbClr val="F59E0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9" autoAdjust="0"/>
    <p:restoredTop sz="94660"/>
  </p:normalViewPr>
  <p:slideViewPr>
    <p:cSldViewPr snapToGrid="0">
      <p:cViewPr varScale="1">
        <p:scale>
          <a:sx n="73" d="100"/>
          <a:sy n="73" d="100"/>
        </p:scale>
        <p:origin x="212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6E87F3-29CB-46EA-99EE-CEE0EBB5BF2A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00951-7A5A-4B5D-8967-9B177364DC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35413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>
            <a:lvl1pPr>
              <a:buClr>
                <a:schemeClr val="accent1">
                  <a:lumMod val="75000"/>
                </a:schemeClr>
              </a:buClr>
              <a:defRPr/>
            </a:lvl1pPr>
            <a:lvl2pPr>
              <a:buClr>
                <a:schemeClr val="accent1">
                  <a:lumMod val="75000"/>
                </a:schemeClr>
              </a:buClr>
              <a:defRPr/>
            </a:lvl2pPr>
            <a:lvl3pPr>
              <a:buClr>
                <a:schemeClr val="accent1">
                  <a:lumMod val="75000"/>
                </a:schemeClr>
              </a:buClr>
              <a:defRPr/>
            </a:lvl3pPr>
            <a:lvl4pPr>
              <a:buClr>
                <a:schemeClr val="accent1">
                  <a:lumMod val="75000"/>
                </a:schemeClr>
              </a:buClr>
              <a:defRPr/>
            </a:lvl4pPr>
            <a:lvl5pPr>
              <a:buClr>
                <a:schemeClr val="accent1">
                  <a:lumMod val="75000"/>
                </a:schemeClr>
              </a:buClr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6E87F3-29CB-46EA-99EE-CEE0EBB5BF2A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3E600951-7A5A-4B5D-8967-9B177364DC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1136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6E87F3-29CB-46EA-99EE-CEE0EBB5BF2A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00951-7A5A-4B5D-8967-9B177364DC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98744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buClr>
                <a:schemeClr val="accent1">
                  <a:lumMod val="75000"/>
                </a:schemeClr>
              </a:buClr>
              <a:defRPr sz="1800"/>
            </a:lvl1pPr>
            <a:lvl2pPr>
              <a:buClr>
                <a:schemeClr val="accent1">
                  <a:lumMod val="75000"/>
                </a:schemeClr>
              </a:buClr>
              <a:defRPr sz="1600"/>
            </a:lvl2pPr>
            <a:lvl3pPr>
              <a:buClr>
                <a:schemeClr val="accent1">
                  <a:lumMod val="75000"/>
                </a:schemeClr>
              </a:buClr>
              <a:defRPr sz="1400"/>
            </a:lvl3pPr>
            <a:lvl4pPr>
              <a:buClr>
                <a:schemeClr val="accent1">
                  <a:lumMod val="75000"/>
                </a:schemeClr>
              </a:buClr>
              <a:defRPr sz="1200"/>
            </a:lvl4pPr>
            <a:lvl5pPr>
              <a:buClr>
                <a:schemeClr val="accent1">
                  <a:lumMod val="75000"/>
                </a:schemeClr>
              </a:buCl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buClr>
                <a:schemeClr val="accent1">
                  <a:lumMod val="75000"/>
                </a:schemeClr>
              </a:buClr>
              <a:defRPr sz="1800"/>
            </a:lvl1pPr>
            <a:lvl2pPr>
              <a:buClr>
                <a:schemeClr val="accent1">
                  <a:lumMod val="75000"/>
                </a:schemeClr>
              </a:buClr>
              <a:defRPr sz="1600"/>
            </a:lvl2pPr>
            <a:lvl3pPr>
              <a:buClr>
                <a:schemeClr val="accent1">
                  <a:lumMod val="75000"/>
                </a:schemeClr>
              </a:buClr>
              <a:defRPr sz="1400"/>
            </a:lvl3pPr>
            <a:lvl4pPr>
              <a:buClr>
                <a:schemeClr val="accent1">
                  <a:lumMod val="75000"/>
                </a:schemeClr>
              </a:buClr>
              <a:defRPr sz="1200"/>
            </a:lvl4pPr>
            <a:lvl5pPr>
              <a:buClr>
                <a:schemeClr val="accent1">
                  <a:lumMod val="75000"/>
                </a:schemeClr>
              </a:buCl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6E87F3-29CB-46EA-99EE-CEE0EBB5BF2A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00951-7A5A-4B5D-8967-9B177364DC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15541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buClr>
                <a:schemeClr val="accent1">
                  <a:lumMod val="75000"/>
                </a:schemeClr>
              </a:buClr>
              <a:defRPr sz="1800"/>
            </a:lvl1pPr>
            <a:lvl2pPr>
              <a:buClr>
                <a:schemeClr val="accent1">
                  <a:lumMod val="75000"/>
                </a:schemeClr>
              </a:buClr>
              <a:defRPr sz="1600"/>
            </a:lvl2pPr>
            <a:lvl3pPr>
              <a:buClr>
                <a:schemeClr val="accent1">
                  <a:lumMod val="75000"/>
                </a:schemeClr>
              </a:buClr>
              <a:defRPr sz="1400"/>
            </a:lvl3pPr>
            <a:lvl4pPr>
              <a:buClr>
                <a:schemeClr val="accent1">
                  <a:lumMod val="75000"/>
                </a:schemeClr>
              </a:buClr>
              <a:defRPr sz="1200"/>
            </a:lvl4pPr>
            <a:lvl5pPr>
              <a:buClr>
                <a:schemeClr val="accent1">
                  <a:lumMod val="75000"/>
                </a:schemeClr>
              </a:buCl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buClr>
                <a:schemeClr val="accent1">
                  <a:lumMod val="75000"/>
                </a:schemeClr>
              </a:buClr>
              <a:defRPr sz="1800"/>
            </a:lvl1pPr>
            <a:lvl2pPr>
              <a:buClr>
                <a:schemeClr val="accent1">
                  <a:lumMod val="75000"/>
                </a:schemeClr>
              </a:buClr>
              <a:defRPr sz="1600"/>
            </a:lvl2pPr>
            <a:lvl3pPr>
              <a:buClr>
                <a:schemeClr val="accent1">
                  <a:lumMod val="75000"/>
                </a:schemeClr>
              </a:buClr>
              <a:defRPr sz="1400"/>
            </a:lvl3pPr>
            <a:lvl4pPr>
              <a:buClr>
                <a:schemeClr val="accent1">
                  <a:lumMod val="75000"/>
                </a:schemeClr>
              </a:buClr>
              <a:defRPr sz="1200"/>
            </a:lvl4pPr>
            <a:lvl5pPr>
              <a:buClr>
                <a:schemeClr val="accent1">
                  <a:lumMod val="75000"/>
                </a:schemeClr>
              </a:buCl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6E87F3-29CB-46EA-99EE-CEE0EBB5BF2A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00951-7A5A-4B5D-8967-9B177364DC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95117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6E87F3-29CB-46EA-99EE-CEE0EBB5BF2A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00951-7A5A-4B5D-8967-9B177364DC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25425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6E87F3-29CB-46EA-99EE-CEE0EBB5BF2A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00951-7A5A-4B5D-8967-9B177364DC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37265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6E87F3-29CB-46EA-99EE-CEE0EBB5BF2A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00951-7A5A-4B5D-8967-9B177364DC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451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6E87F3-29CB-46EA-99EE-CEE0EBB5BF2A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00951-7A5A-4B5D-8967-9B177364DC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19199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6E87F3-29CB-46EA-99EE-CEE0EBB5BF2A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00951-7A5A-4B5D-8967-9B177364DC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13644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6E87F3-29CB-46EA-99EE-CEE0EBB5BF2A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00951-7A5A-4B5D-8967-9B177364DC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144649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6E87F3-29CB-46EA-99EE-CEE0EBB5BF2A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00951-7A5A-4B5D-8967-9B177364DC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46071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6E87F3-29CB-46EA-99EE-CEE0EBB5BF2A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00951-7A5A-4B5D-8967-9B177364DC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036206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6E87F3-29CB-46EA-99EE-CEE0EBB5BF2A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00951-7A5A-4B5D-8967-9B177364DC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09431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6E87F3-29CB-46EA-99EE-CEE0EBB5BF2A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00951-7A5A-4B5D-8967-9B177364DC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132484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6E87F3-29CB-46EA-99EE-CEE0EBB5BF2A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00951-7A5A-4B5D-8967-9B177364DC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740390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6E87F3-29CB-46EA-99EE-CEE0EBB5BF2A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00951-7A5A-4B5D-8967-9B177364DC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2925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F46E87F3-29CB-46EA-99EE-CEE0EBB5BF2A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3E600951-7A5A-4B5D-8967-9B177364DC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06399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1" r:id="rId1"/>
    <p:sldLayoutId id="2147483752" r:id="rId2"/>
    <p:sldLayoutId id="2147483753" r:id="rId3"/>
    <p:sldLayoutId id="2147483754" r:id="rId4"/>
    <p:sldLayoutId id="2147483755" r:id="rId5"/>
    <p:sldLayoutId id="2147483756" r:id="rId6"/>
    <p:sldLayoutId id="2147483757" r:id="rId7"/>
    <p:sldLayoutId id="2147483758" r:id="rId8"/>
    <p:sldLayoutId id="2147483759" r:id="rId9"/>
    <p:sldLayoutId id="2147483760" r:id="rId10"/>
    <p:sldLayoutId id="2147483761" r:id="rId11"/>
    <p:sldLayoutId id="2147483762" r:id="rId12"/>
    <p:sldLayoutId id="2147483763" r:id="rId13"/>
    <p:sldLayoutId id="2147483764" r:id="rId14"/>
    <p:sldLayoutId id="2147483765" r:id="rId15"/>
    <p:sldLayoutId id="2147483766" r:id="rId16"/>
    <p:sldLayoutId id="214748376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rgbClr val="1F3A8A"/>
            </a:gs>
            <a:gs pos="82000">
              <a:srgbClr val="1F3A8A"/>
            </a:gs>
            <a:gs pos="7000">
              <a:srgbClr val="1F3A8A">
                <a:alpha val="0"/>
              </a:srgb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D2B46-7879-4C17-9C0F-E49A47A8C6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8572" y="217714"/>
            <a:ext cx="10724606" cy="3324981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1F3A8A"/>
                </a:solidFill>
                <a:latin typeface="Eras Demi ITC" panose="020B0805030504020804" pitchFamily="34" charset="0"/>
              </a:rPr>
              <a:t>End-to-End E-Commerce </a:t>
            </a:r>
            <a:r>
              <a:rPr lang="en-US" dirty="0">
                <a:solidFill>
                  <a:schemeClr val="bg1"/>
                </a:solidFill>
                <a:latin typeface="Eras Demi ITC" panose="020B0805030504020804" pitchFamily="34" charset="0"/>
              </a:rPr>
              <a:t>Data Integration &amp; Business Intelligence Project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7A15F2-4B8E-4E9F-87A8-42D6E40C74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13715" y="4100890"/>
            <a:ext cx="4738996" cy="1121228"/>
          </a:xfrm>
        </p:spPr>
        <p:txBody>
          <a:bodyPr>
            <a:normAutofit/>
          </a:bodyPr>
          <a:lstStyle/>
          <a:p>
            <a:pPr algn="r"/>
            <a:r>
              <a:rPr lang="en-US" sz="3200" dirty="0">
                <a:solidFill>
                  <a:schemeClr val="bg1"/>
                </a:solidFill>
                <a:latin typeface="Eras Demi ITC" panose="020B0805030504020804" pitchFamily="34" charset="0"/>
              </a:rPr>
              <a:t>A Presentation by Goshen Commerce Ltd.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FC48A24A-EEFB-4091-8AE1-4A9B630C3B86}"/>
              </a:ext>
            </a:extLst>
          </p:cNvPr>
          <p:cNvSpPr txBox="1">
            <a:spLocks/>
          </p:cNvSpPr>
          <p:nvPr/>
        </p:nvSpPr>
        <p:spPr>
          <a:xfrm>
            <a:off x="4778829" y="5780314"/>
            <a:ext cx="2318657" cy="859972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85000" lnSpcReduction="10000"/>
          </a:bodyPr>
          <a:lstStyle>
            <a:lvl1pPr marL="0" indent="0" algn="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21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20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8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6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n-US" sz="1900" dirty="0">
                <a:solidFill>
                  <a:schemeClr val="bg1"/>
                </a:solidFill>
                <a:latin typeface="Eras Demi ITC" panose="020B0805030504020804" pitchFamily="34" charset="0"/>
              </a:rPr>
              <a:t>Submitted</a:t>
            </a:r>
            <a:r>
              <a:rPr lang="en-US" sz="1800" dirty="0">
                <a:solidFill>
                  <a:schemeClr val="bg1"/>
                </a:solidFill>
                <a:latin typeface="Eras Demi ITC" panose="020B0805030504020804" pitchFamily="34" charset="0"/>
              </a:rPr>
              <a:t>: </a:t>
            </a:r>
            <a:r>
              <a:rPr lang="en-US" sz="2800" dirty="0">
                <a:solidFill>
                  <a:schemeClr val="bg1"/>
                </a:solidFill>
                <a:latin typeface="Eras Demi ITC" panose="020B0805030504020804" pitchFamily="34" charset="0"/>
              </a:rPr>
              <a:t>23</a:t>
            </a:r>
            <a:r>
              <a:rPr lang="en-US" sz="2800" baseline="30000" dirty="0">
                <a:solidFill>
                  <a:schemeClr val="bg1"/>
                </a:solidFill>
                <a:latin typeface="Eras Demi ITC" panose="020B0805030504020804" pitchFamily="34" charset="0"/>
              </a:rPr>
              <a:t>rd</a:t>
            </a:r>
            <a:r>
              <a:rPr lang="en-US" sz="2800" dirty="0">
                <a:solidFill>
                  <a:schemeClr val="bg1"/>
                </a:solidFill>
                <a:latin typeface="Eras Demi ITC" panose="020B0805030504020804" pitchFamily="34" charset="0"/>
              </a:rPr>
              <a:t> August, 2026.</a:t>
            </a:r>
            <a:endParaRPr lang="en-US" sz="1800" dirty="0">
              <a:solidFill>
                <a:schemeClr val="bg1"/>
              </a:solidFill>
              <a:latin typeface="Eras Demi ITC" panose="020B08050305040208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74563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flip="none" rotWithShape="1">
          <a:gsLst>
            <a:gs pos="100000">
              <a:srgbClr val="1F3A8A"/>
            </a:gs>
            <a:gs pos="0">
              <a:srgbClr val="1F3A8A">
                <a:alpha val="0"/>
              </a:srgb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D2B46-7879-4C17-9C0F-E49A47A8C6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522514"/>
            <a:ext cx="10018713" cy="859972"/>
          </a:xfrm>
        </p:spPr>
        <p:txBody>
          <a:bodyPr>
            <a:normAutofit/>
          </a:bodyPr>
          <a:lstStyle/>
          <a:p>
            <a:pPr algn="l"/>
            <a:r>
              <a:rPr lang="en-US" sz="4800" dirty="0">
                <a:solidFill>
                  <a:srgbClr val="1F3A8A"/>
                </a:solidFill>
                <a:latin typeface="Eras Demi ITC" panose="020B0805030504020804" pitchFamily="34" charset="0"/>
              </a:rPr>
              <a:t>Introduction</a:t>
            </a:r>
            <a:endParaRPr lang="en-US" sz="4400" dirty="0">
              <a:solidFill>
                <a:srgbClr val="1F3A8A"/>
              </a:solidFill>
              <a:latin typeface="Eras Demi ITC" panose="020B08050305040208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7A15F2-4B8E-4E9F-87A8-42D6E40C74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382486"/>
            <a:ext cx="10707690" cy="5475514"/>
          </a:xfrm>
        </p:spPr>
        <p:txBody>
          <a:bodyPr>
            <a:normAutofit lnSpcReduction="10000"/>
          </a:bodyPr>
          <a:lstStyle/>
          <a:p>
            <a:pPr>
              <a:buClr>
                <a:srgbClr val="F59E0B"/>
              </a:buClr>
              <a:buFont typeface="Wingdings" panose="05000000000000000000" pitchFamily="2" charset="2"/>
              <a:buChar char="Ø"/>
            </a:pPr>
            <a:r>
              <a:rPr lang="en-US" sz="3200" dirty="0">
                <a:solidFill>
                  <a:schemeClr val="bg1"/>
                </a:solidFill>
                <a:latin typeface="Eras Demi ITC" panose="020B0805030504020804" pitchFamily="34" charset="0"/>
              </a:rPr>
              <a:t>This project was undertaken by Group 3 Data analysts from Goshen Commerce Ltd.</a:t>
            </a:r>
          </a:p>
          <a:p>
            <a:pPr>
              <a:buClr>
                <a:srgbClr val="F59E0B"/>
              </a:buClr>
              <a:buFont typeface="Wingdings" panose="05000000000000000000" pitchFamily="2" charset="2"/>
              <a:buChar char="Ø"/>
            </a:pPr>
            <a:r>
              <a:rPr lang="en-US" sz="3200" dirty="0">
                <a:solidFill>
                  <a:schemeClr val="bg1"/>
                </a:solidFill>
                <a:latin typeface="Eras Demi ITC" panose="020B0805030504020804" pitchFamily="34" charset="0"/>
              </a:rPr>
              <a:t>Five datasets – </a:t>
            </a:r>
            <a:r>
              <a:rPr lang="en-US" sz="3200" dirty="0" err="1">
                <a:solidFill>
                  <a:schemeClr val="bg1"/>
                </a:solidFill>
                <a:latin typeface="Eras Demi ITC" panose="020B0805030504020804" pitchFamily="34" charset="0"/>
              </a:rPr>
              <a:t>olist_customers</a:t>
            </a:r>
            <a:r>
              <a:rPr lang="en-US" sz="3200" dirty="0">
                <a:solidFill>
                  <a:schemeClr val="bg1"/>
                </a:solidFill>
                <a:latin typeface="Eras Demi ITC" panose="020B0805030504020804" pitchFamily="34" charset="0"/>
              </a:rPr>
              <a:t>, </a:t>
            </a:r>
            <a:r>
              <a:rPr lang="en-US" sz="3200" dirty="0" err="1">
                <a:solidFill>
                  <a:schemeClr val="bg1"/>
                </a:solidFill>
                <a:latin typeface="Eras Demi ITC" panose="020B0805030504020804" pitchFamily="34" charset="0"/>
              </a:rPr>
              <a:t>olist_order_items</a:t>
            </a:r>
            <a:r>
              <a:rPr lang="en-US" sz="3200" dirty="0">
                <a:solidFill>
                  <a:schemeClr val="bg1"/>
                </a:solidFill>
                <a:latin typeface="Eras Demi ITC" panose="020B0805030504020804" pitchFamily="34" charset="0"/>
              </a:rPr>
              <a:t>, </a:t>
            </a:r>
            <a:r>
              <a:rPr lang="en-US" sz="3200" dirty="0" err="1">
                <a:solidFill>
                  <a:schemeClr val="bg1"/>
                </a:solidFill>
                <a:latin typeface="Eras Demi ITC" panose="020B0805030504020804" pitchFamily="34" charset="0"/>
              </a:rPr>
              <a:t>olist_order_payments</a:t>
            </a:r>
            <a:r>
              <a:rPr lang="en-US" sz="3200" dirty="0">
                <a:solidFill>
                  <a:schemeClr val="bg1"/>
                </a:solidFill>
                <a:latin typeface="Eras Demi ITC" panose="020B0805030504020804" pitchFamily="34" charset="0"/>
              </a:rPr>
              <a:t>, </a:t>
            </a:r>
            <a:r>
              <a:rPr lang="en-US" sz="3200" dirty="0" err="1">
                <a:solidFill>
                  <a:schemeClr val="bg1"/>
                </a:solidFill>
                <a:latin typeface="Eras Demi ITC" panose="020B0805030504020804" pitchFamily="34" charset="0"/>
              </a:rPr>
              <a:t>olist_orders</a:t>
            </a:r>
            <a:r>
              <a:rPr lang="en-US" sz="3200" dirty="0">
                <a:solidFill>
                  <a:schemeClr val="bg1"/>
                </a:solidFill>
                <a:latin typeface="Eras Demi ITC" panose="020B0805030504020804" pitchFamily="34" charset="0"/>
              </a:rPr>
              <a:t>, </a:t>
            </a:r>
            <a:r>
              <a:rPr lang="en-US" sz="3200" dirty="0" err="1">
                <a:solidFill>
                  <a:schemeClr val="bg1"/>
                </a:solidFill>
                <a:latin typeface="Eras Demi ITC" panose="020B0805030504020804" pitchFamily="34" charset="0"/>
              </a:rPr>
              <a:t>olist_products</a:t>
            </a:r>
            <a:r>
              <a:rPr lang="en-US" sz="3200" dirty="0">
                <a:solidFill>
                  <a:schemeClr val="bg1"/>
                </a:solidFill>
                <a:latin typeface="Eras Demi ITC" panose="020B0805030504020804" pitchFamily="34" charset="0"/>
              </a:rPr>
              <a:t>. </a:t>
            </a:r>
          </a:p>
          <a:p>
            <a:pPr>
              <a:buClr>
                <a:srgbClr val="F59E0B"/>
              </a:buClr>
              <a:buFont typeface="Wingdings" panose="05000000000000000000" pitchFamily="2" charset="2"/>
              <a:buChar char="Ø"/>
            </a:pPr>
            <a:r>
              <a:rPr lang="en-US" sz="3200" dirty="0">
                <a:solidFill>
                  <a:schemeClr val="bg1"/>
                </a:solidFill>
                <a:latin typeface="Eras Demi ITC" panose="020B0805030504020804" pitchFamily="34" charset="0"/>
              </a:rPr>
              <a:t>Power Bi was our tool of choice.</a:t>
            </a:r>
          </a:p>
          <a:p>
            <a:pPr>
              <a:buClr>
                <a:srgbClr val="F59E0B"/>
              </a:buClr>
              <a:buFont typeface="Wingdings" panose="05000000000000000000" pitchFamily="2" charset="2"/>
              <a:buChar char="Ø"/>
            </a:pPr>
            <a:r>
              <a:rPr lang="en-US" sz="3200" dirty="0">
                <a:solidFill>
                  <a:schemeClr val="bg1"/>
                </a:solidFill>
                <a:latin typeface="Eras Demi ITC" panose="020B0805030504020804" pitchFamily="34" charset="0"/>
              </a:rPr>
              <a:t>Our objectives were: Assess data quality; Clean and prepare messy data; Merge multiple datasets correctly; Analyze data effectively; Build a professional dashboard; Present actionable business insights</a:t>
            </a: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5C26B1B2-B23A-4504-94A6-8411822DB893}"/>
              </a:ext>
            </a:extLst>
          </p:cNvPr>
          <p:cNvSpPr/>
          <p:nvPr/>
        </p:nvSpPr>
        <p:spPr>
          <a:xfrm>
            <a:off x="805543" y="582386"/>
            <a:ext cx="678767" cy="751114"/>
          </a:xfrm>
          <a:prstGeom prst="rightArrow">
            <a:avLst/>
          </a:prstGeom>
          <a:solidFill>
            <a:srgbClr val="F59E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428447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rgbClr val="1F3A8A"/>
            </a:gs>
            <a:gs pos="0">
              <a:srgbClr val="1F3A8A">
                <a:alpha val="0"/>
              </a:srgb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7B5D5A-6E45-47EB-A282-FA343AC58A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50971" y="685800"/>
            <a:ext cx="6452053" cy="892629"/>
          </a:xfrm>
        </p:spPr>
        <p:txBody>
          <a:bodyPr>
            <a:normAutofit fontScale="90000"/>
          </a:bodyPr>
          <a:lstStyle/>
          <a:p>
            <a:r>
              <a:rPr lang="en-US" sz="5300" dirty="0">
                <a:solidFill>
                  <a:srgbClr val="1F3A8A"/>
                </a:solidFill>
                <a:latin typeface="Eras Demi ITC" panose="020B0805030504020804" pitchFamily="34" charset="0"/>
              </a:rPr>
              <a:t>Data Issues Identified</a:t>
            </a:r>
            <a:endParaRPr lang="en-US"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A052F992-B35C-4562-8BE5-2F79B317B6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48542" y="1578429"/>
            <a:ext cx="10243457" cy="5138057"/>
          </a:xfrm>
        </p:spPr>
        <p:txBody>
          <a:bodyPr>
            <a:normAutofit/>
          </a:bodyPr>
          <a:lstStyle/>
          <a:p>
            <a:pPr>
              <a:buClr>
                <a:srgbClr val="F59E0B"/>
              </a:buClr>
              <a:buFont typeface="Wingdings" panose="05000000000000000000" pitchFamily="2" charset="2"/>
              <a:buChar char="Ø"/>
            </a:pPr>
            <a:r>
              <a:rPr lang="en-US" sz="3600" dirty="0">
                <a:solidFill>
                  <a:schemeClr val="bg1"/>
                </a:solidFill>
                <a:latin typeface="Eras Demi ITC" panose="020B0805030504020804" pitchFamily="34" charset="0"/>
              </a:rPr>
              <a:t>The data types in each dataset needs to be corrected</a:t>
            </a:r>
          </a:p>
          <a:p>
            <a:pPr>
              <a:buClr>
                <a:srgbClr val="F59E0B"/>
              </a:buClr>
              <a:buFont typeface="Wingdings" panose="05000000000000000000" pitchFamily="2" charset="2"/>
              <a:buChar char="Ø"/>
            </a:pPr>
            <a:r>
              <a:rPr lang="en-US" sz="3600" dirty="0">
                <a:solidFill>
                  <a:schemeClr val="bg1"/>
                </a:solidFill>
                <a:latin typeface="Eras Demi ITC" panose="020B0805030504020804" pitchFamily="34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Eras Demi ITC" panose="020B0805030504020804" pitchFamily="34" charset="0"/>
              </a:rPr>
              <a:t>olist_orders</a:t>
            </a:r>
            <a:r>
              <a:rPr lang="en-US" sz="3600" dirty="0">
                <a:solidFill>
                  <a:schemeClr val="bg1"/>
                </a:solidFill>
                <a:latin typeface="Eras Demi ITC" panose="020B0805030504020804" pitchFamily="34" charset="0"/>
              </a:rPr>
              <a:t> and </a:t>
            </a:r>
            <a:r>
              <a:rPr lang="en-US" sz="3600" dirty="0" err="1">
                <a:solidFill>
                  <a:schemeClr val="bg1"/>
                </a:solidFill>
                <a:latin typeface="Eras Demi ITC" panose="020B0805030504020804" pitchFamily="34" charset="0"/>
              </a:rPr>
              <a:t>olist_products</a:t>
            </a:r>
            <a:r>
              <a:rPr lang="en-US" sz="3600" dirty="0">
                <a:solidFill>
                  <a:schemeClr val="bg1"/>
                </a:solidFill>
                <a:latin typeface="Eras Demi ITC" panose="020B0805030504020804" pitchFamily="34" charset="0"/>
              </a:rPr>
              <a:t> datasets have missing values.</a:t>
            </a:r>
          </a:p>
          <a:p>
            <a:pPr>
              <a:buClr>
                <a:srgbClr val="F59E0B"/>
              </a:buClr>
              <a:buFont typeface="Wingdings" panose="05000000000000000000" pitchFamily="2" charset="2"/>
              <a:buChar char="Ø"/>
            </a:pPr>
            <a:r>
              <a:rPr lang="en-US" sz="3600" dirty="0">
                <a:solidFill>
                  <a:schemeClr val="bg1"/>
                </a:solidFill>
                <a:latin typeface="Eras Demi ITC" panose="020B0805030504020804" pitchFamily="34" charset="0"/>
              </a:rPr>
              <a:t>No duplicates detected.</a:t>
            </a:r>
          </a:p>
          <a:p>
            <a:pPr>
              <a:buClr>
                <a:srgbClr val="F59E0B"/>
              </a:buClr>
              <a:buFont typeface="Wingdings" panose="05000000000000000000" pitchFamily="2" charset="2"/>
              <a:buChar char="Ø"/>
            </a:pPr>
            <a:r>
              <a:rPr lang="en-US" sz="3600" dirty="0">
                <a:solidFill>
                  <a:schemeClr val="bg1"/>
                </a:solidFill>
                <a:latin typeface="Eras Demi ITC" panose="020B0805030504020804" pitchFamily="34" charset="0"/>
              </a:rPr>
              <a:t>No inconsistent formats although the text cases were mostly lower case.</a:t>
            </a:r>
          </a:p>
        </p:txBody>
      </p:sp>
    </p:spTree>
    <p:extLst>
      <p:ext uri="{BB962C8B-B14F-4D97-AF65-F5344CB8AC3E}">
        <p14:creationId xmlns:p14="http://schemas.microsoft.com/office/powerpoint/2010/main" val="19439760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flip="none" rotWithShape="1">
          <a:gsLst>
            <a:gs pos="100000">
              <a:srgbClr val="1F3A8A"/>
            </a:gs>
            <a:gs pos="0">
              <a:srgbClr val="1F3A8A">
                <a:alpha val="0"/>
              </a:srgb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D2B46-7879-4C17-9C0F-E49A47A8C6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522514"/>
            <a:ext cx="10018713" cy="859972"/>
          </a:xfrm>
        </p:spPr>
        <p:txBody>
          <a:bodyPr>
            <a:normAutofit/>
          </a:bodyPr>
          <a:lstStyle/>
          <a:p>
            <a:pPr algn="l"/>
            <a:r>
              <a:rPr lang="en-US" sz="4800" dirty="0">
                <a:solidFill>
                  <a:srgbClr val="1F3A8A"/>
                </a:solidFill>
                <a:latin typeface="Eras Demi ITC" panose="020B0805030504020804" pitchFamily="34" charset="0"/>
              </a:rPr>
              <a:t>Data Cleaning Process</a:t>
            </a:r>
            <a:endParaRPr lang="en-US" sz="4400" dirty="0">
              <a:solidFill>
                <a:srgbClr val="1F3A8A"/>
              </a:solidFill>
              <a:latin typeface="Eras Demi ITC" panose="020B08050305040208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7A15F2-4B8E-4E9F-87A8-42D6E40C74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524000"/>
            <a:ext cx="10707690" cy="3810000"/>
          </a:xfrm>
        </p:spPr>
        <p:txBody>
          <a:bodyPr>
            <a:normAutofit/>
          </a:bodyPr>
          <a:lstStyle/>
          <a:p>
            <a:pPr>
              <a:buClr>
                <a:srgbClr val="F59E0B"/>
              </a:buClr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chemeClr val="bg1"/>
                </a:solidFill>
                <a:latin typeface="Eras Demi ITC" panose="020B0805030504020804" pitchFamily="34" charset="0"/>
              </a:rPr>
              <a:t>Power Bi automatically put in the correct data types for some columns, other columns were manually fixed.</a:t>
            </a:r>
          </a:p>
          <a:p>
            <a:pPr>
              <a:buClr>
                <a:srgbClr val="F59E0B"/>
              </a:buClr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chemeClr val="bg1"/>
                </a:solidFill>
                <a:latin typeface="Eras Demi ITC" panose="020B0805030504020804" pitchFamily="34" charset="0"/>
              </a:rPr>
              <a:t>Formats were also corrected – Uppercase, Capitalized first word, Trimmed and cleaned texts.</a:t>
            </a:r>
          </a:p>
          <a:p>
            <a:pPr>
              <a:buClr>
                <a:srgbClr val="F59E0B"/>
              </a:buClr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chemeClr val="bg1"/>
                </a:solidFill>
                <a:latin typeface="Eras Demi ITC" panose="020B0805030504020804" pitchFamily="34" charset="0"/>
              </a:rPr>
              <a:t>Missing values were replaced with “null”</a:t>
            </a:r>
          </a:p>
          <a:p>
            <a:pPr>
              <a:buClr>
                <a:srgbClr val="F59E0B"/>
              </a:buClr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chemeClr val="bg1"/>
                </a:solidFill>
                <a:latin typeface="Eras Demi ITC" panose="020B0805030504020804" pitchFamily="34" charset="0"/>
              </a:rPr>
              <a:t>Some columns were renamed.</a:t>
            </a:r>
          </a:p>
          <a:p>
            <a:pPr>
              <a:buClr>
                <a:srgbClr val="F59E0B"/>
              </a:buClr>
              <a:buFont typeface="Wingdings" panose="05000000000000000000" pitchFamily="2" charset="2"/>
              <a:buChar char="Ø"/>
            </a:pPr>
            <a:endParaRPr lang="en-US" sz="2800" dirty="0">
              <a:solidFill>
                <a:schemeClr val="bg1"/>
              </a:solidFill>
              <a:latin typeface="Eras Demi ITC" panose="020B0805030504020804" pitchFamily="34" charset="0"/>
            </a:endParaRP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5C26B1B2-B23A-4504-94A6-8411822DB893}"/>
              </a:ext>
            </a:extLst>
          </p:cNvPr>
          <p:cNvSpPr/>
          <p:nvPr/>
        </p:nvSpPr>
        <p:spPr>
          <a:xfrm>
            <a:off x="805543" y="582386"/>
            <a:ext cx="678767" cy="751114"/>
          </a:xfrm>
          <a:prstGeom prst="rightArrow">
            <a:avLst/>
          </a:prstGeom>
          <a:solidFill>
            <a:srgbClr val="F59E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411DE32-21F2-4A2F-BA22-1A33C24EF0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1297359"/>
              </p:ext>
            </p:extLst>
          </p:nvPr>
        </p:nvGraphicFramePr>
        <p:xfrm>
          <a:off x="250371" y="4856480"/>
          <a:ext cx="11691257" cy="192532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4686941">
                  <a:extLst>
                    <a:ext uri="{9D8B030D-6E8A-4147-A177-3AD203B41FA5}">
                      <a16:colId xmlns:a16="http://schemas.microsoft.com/office/drawing/2014/main" val="630814209"/>
                    </a:ext>
                  </a:extLst>
                </a:gridCol>
                <a:gridCol w="7004316">
                  <a:extLst>
                    <a:ext uri="{9D8B030D-6E8A-4147-A177-3AD203B41FA5}">
                      <a16:colId xmlns:a16="http://schemas.microsoft.com/office/drawing/2014/main" val="4089951616"/>
                    </a:ext>
                  </a:extLst>
                </a:gridCol>
              </a:tblGrid>
              <a:tr h="495662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/>
                          </a:solidFill>
                          <a:latin typeface="Eras Demi ITC" panose="020B0805030504020804" pitchFamily="34" charset="0"/>
                        </a:rPr>
                        <a:t>Format (Upper Case, Capitalize)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 err="1">
                          <a:solidFill>
                            <a:srgbClr val="F59E0B"/>
                          </a:solidFill>
                          <a:latin typeface="Eras Demi ITC" panose="020B0805030504020804" pitchFamily="34" charset="0"/>
                        </a:rPr>
                        <a:t>customers</a:t>
                      </a:r>
                      <a:r>
                        <a:rPr lang="en-US" b="0" dirty="0" err="1">
                          <a:solidFill>
                            <a:schemeClr val="bg1"/>
                          </a:solidFill>
                          <a:latin typeface="Eras Demi ITC" panose="020B0805030504020804" pitchFamily="34" charset="0"/>
                        </a:rPr>
                        <a:t>.customer_city</a:t>
                      </a:r>
                      <a:r>
                        <a:rPr lang="en-US" b="0" dirty="0">
                          <a:solidFill>
                            <a:schemeClr val="bg1"/>
                          </a:solidFill>
                          <a:latin typeface="Eras Demi ITC" panose="020B0805030504020804" pitchFamily="34" charset="0"/>
                        </a:rPr>
                        <a:t>, </a:t>
                      </a:r>
                      <a:r>
                        <a:rPr lang="en-US" b="0" dirty="0" err="1">
                          <a:solidFill>
                            <a:srgbClr val="F59E0B"/>
                          </a:solidFill>
                          <a:latin typeface="Eras Demi ITC" panose="020B0805030504020804" pitchFamily="34" charset="0"/>
                        </a:rPr>
                        <a:t>customers</a:t>
                      </a:r>
                      <a:r>
                        <a:rPr lang="en-US" b="0" dirty="0" err="1">
                          <a:solidFill>
                            <a:schemeClr val="bg1"/>
                          </a:solidFill>
                          <a:latin typeface="Eras Demi ITC" panose="020B0805030504020804" pitchFamily="34" charset="0"/>
                        </a:rPr>
                        <a:t>.customer_state</a:t>
                      </a:r>
                      <a:r>
                        <a:rPr lang="en-US" b="0" dirty="0">
                          <a:solidFill>
                            <a:schemeClr val="bg1"/>
                          </a:solidFill>
                          <a:latin typeface="Eras Demi ITC" panose="020B0805030504020804" pitchFamily="34" charset="0"/>
                        </a:rPr>
                        <a:t>, </a:t>
                      </a:r>
                      <a:r>
                        <a:rPr lang="en-US" b="0" dirty="0" err="1">
                          <a:solidFill>
                            <a:srgbClr val="F59E0B"/>
                          </a:solidFill>
                          <a:latin typeface="Eras Demi ITC" panose="020B0805030504020804" pitchFamily="34" charset="0"/>
                        </a:rPr>
                        <a:t>order_payments</a:t>
                      </a:r>
                      <a:r>
                        <a:rPr lang="en-US" b="0" dirty="0" err="1">
                          <a:solidFill>
                            <a:schemeClr val="bg1"/>
                          </a:solidFill>
                          <a:latin typeface="Eras Demi ITC" panose="020B0805030504020804" pitchFamily="34" charset="0"/>
                        </a:rPr>
                        <a:t>.payment_type</a:t>
                      </a:r>
                      <a:r>
                        <a:rPr lang="en-US" b="0" dirty="0">
                          <a:solidFill>
                            <a:schemeClr val="bg1"/>
                          </a:solidFill>
                          <a:latin typeface="Eras Demi ITC" panose="020B0805030504020804" pitchFamily="34" charset="0"/>
                        </a:rPr>
                        <a:t>, </a:t>
                      </a:r>
                      <a:r>
                        <a:rPr lang="en-US" b="0" dirty="0" err="1">
                          <a:solidFill>
                            <a:srgbClr val="F59E0B"/>
                          </a:solidFill>
                          <a:latin typeface="Eras Demi ITC" panose="020B0805030504020804" pitchFamily="34" charset="0"/>
                        </a:rPr>
                        <a:t>orders</a:t>
                      </a:r>
                      <a:r>
                        <a:rPr lang="en-US" b="0" dirty="0" err="1">
                          <a:solidFill>
                            <a:schemeClr val="bg1"/>
                          </a:solidFill>
                          <a:latin typeface="Eras Demi ITC" panose="020B0805030504020804" pitchFamily="34" charset="0"/>
                        </a:rPr>
                        <a:t>.order_status</a:t>
                      </a:r>
                      <a:r>
                        <a:rPr lang="en-US" b="0" dirty="0">
                          <a:solidFill>
                            <a:schemeClr val="bg1"/>
                          </a:solidFill>
                          <a:latin typeface="Eras Demi ITC" panose="020B0805030504020804" pitchFamily="34" charset="0"/>
                        </a:rPr>
                        <a:t>, </a:t>
                      </a:r>
                      <a:r>
                        <a:rPr lang="en-US" b="0" dirty="0" err="1">
                          <a:solidFill>
                            <a:srgbClr val="F59E0B"/>
                          </a:solidFill>
                          <a:latin typeface="Eras Demi ITC" panose="020B0805030504020804" pitchFamily="34" charset="0"/>
                        </a:rPr>
                        <a:t>products</a:t>
                      </a:r>
                      <a:r>
                        <a:rPr lang="en-US" b="0" dirty="0" err="1">
                          <a:solidFill>
                            <a:schemeClr val="bg1"/>
                          </a:solidFill>
                          <a:latin typeface="Eras Demi ITC" panose="020B0805030504020804" pitchFamily="34" charset="0"/>
                        </a:rPr>
                        <a:t>.product_category_name</a:t>
                      </a:r>
                      <a:endParaRPr lang="en-US" b="0" dirty="0">
                        <a:solidFill>
                          <a:schemeClr val="bg1"/>
                        </a:solidFill>
                        <a:latin typeface="Eras Demi ITC" panose="020B08050305040208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33971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US" sz="1800" b="0" kern="1200" dirty="0">
                          <a:solidFill>
                            <a:schemeClr val="bg1"/>
                          </a:solidFill>
                          <a:latin typeface="Eras Demi ITC" panose="020B0805030504020804" pitchFamily="34" charset="0"/>
                        </a:rPr>
                        <a:t>Data types changed</a:t>
                      </a:r>
                      <a:endParaRPr lang="en-US" sz="1800" b="0" kern="1200" dirty="0">
                        <a:solidFill>
                          <a:schemeClr val="bg1"/>
                        </a:solidFill>
                        <a:latin typeface="Eras Demi ITC" panose="020B0805030504020804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rgbClr val="F59E0B"/>
                          </a:solidFill>
                          <a:latin typeface="Eras Demi ITC" panose="020B0805030504020804" pitchFamily="34" charset="0"/>
                        </a:rPr>
                        <a:t>orders</a:t>
                      </a:r>
                      <a:r>
                        <a:rPr lang="en-US" b="0" dirty="0">
                          <a:solidFill>
                            <a:schemeClr val="bg1"/>
                          </a:solidFill>
                          <a:latin typeface="Eras Demi ITC" panose="020B0805030504020804" pitchFamily="34" charset="0"/>
                        </a:rPr>
                        <a:t>. </a:t>
                      </a:r>
                      <a:r>
                        <a:rPr lang="en-US" b="0" dirty="0" err="1">
                          <a:solidFill>
                            <a:schemeClr val="bg1"/>
                          </a:solidFill>
                          <a:latin typeface="Eras Demi ITC" panose="020B0805030504020804" pitchFamily="34" charset="0"/>
                        </a:rPr>
                        <a:t>order_estimated_delivery_date</a:t>
                      </a:r>
                      <a:r>
                        <a:rPr lang="en-US" b="0" dirty="0">
                          <a:solidFill>
                            <a:schemeClr val="bg1"/>
                          </a:solidFill>
                          <a:latin typeface="Eras Demi ITC" panose="020B0805030504020804" pitchFamily="34" charset="0"/>
                        </a:rPr>
                        <a:t>, </a:t>
                      </a:r>
                      <a:r>
                        <a:rPr lang="en-US" b="0" dirty="0" err="1">
                          <a:solidFill>
                            <a:srgbClr val="F59E0B"/>
                          </a:solidFill>
                          <a:latin typeface="Eras Demi ITC" panose="020B0805030504020804" pitchFamily="34" charset="0"/>
                        </a:rPr>
                        <a:t>order_payments</a:t>
                      </a:r>
                      <a:r>
                        <a:rPr lang="en-US" b="0" dirty="0">
                          <a:solidFill>
                            <a:schemeClr val="bg1"/>
                          </a:solidFill>
                          <a:latin typeface="Eras Demi ITC" panose="020B0805030504020804" pitchFamily="34" charset="0"/>
                        </a:rPr>
                        <a:t>. </a:t>
                      </a:r>
                      <a:r>
                        <a:rPr lang="en-US" b="0" dirty="0" err="1">
                          <a:solidFill>
                            <a:schemeClr val="bg1"/>
                          </a:solidFill>
                          <a:latin typeface="Eras Demi ITC" panose="020B0805030504020804" pitchFamily="34" charset="0"/>
                        </a:rPr>
                        <a:t>payment_value</a:t>
                      </a:r>
                      <a:r>
                        <a:rPr lang="en-US" b="0" dirty="0">
                          <a:solidFill>
                            <a:schemeClr val="bg1"/>
                          </a:solidFill>
                          <a:latin typeface="Eras Demi ITC" panose="020B0805030504020804" pitchFamily="34" charset="0"/>
                        </a:rPr>
                        <a:t>, </a:t>
                      </a:r>
                      <a:r>
                        <a:rPr lang="en-US" b="0" dirty="0" err="1">
                          <a:solidFill>
                            <a:srgbClr val="F59E0B"/>
                          </a:solidFill>
                          <a:latin typeface="Eras Demi ITC" panose="020B0805030504020804" pitchFamily="34" charset="0"/>
                        </a:rPr>
                        <a:t>order_items</a:t>
                      </a:r>
                      <a:r>
                        <a:rPr lang="en-US" b="0" dirty="0" err="1">
                          <a:solidFill>
                            <a:schemeClr val="bg1"/>
                          </a:solidFill>
                          <a:latin typeface="Eras Demi ITC" panose="020B0805030504020804" pitchFamily="34" charset="0"/>
                        </a:rPr>
                        <a:t>.price</a:t>
                      </a:r>
                      <a:r>
                        <a:rPr lang="en-US" b="0" dirty="0">
                          <a:solidFill>
                            <a:schemeClr val="bg1"/>
                          </a:solidFill>
                          <a:latin typeface="Eras Demi ITC" panose="020B0805030504020804" pitchFamily="34" charset="0"/>
                        </a:rPr>
                        <a:t>, </a:t>
                      </a:r>
                      <a:r>
                        <a:rPr lang="en-US" b="0" dirty="0" err="1">
                          <a:solidFill>
                            <a:srgbClr val="F59E0B"/>
                          </a:solidFill>
                          <a:latin typeface="Eras Demi ITC" panose="020B0805030504020804" pitchFamily="34" charset="0"/>
                        </a:rPr>
                        <a:t>order_items</a:t>
                      </a:r>
                      <a:r>
                        <a:rPr lang="en-US" b="0" dirty="0" err="1">
                          <a:solidFill>
                            <a:schemeClr val="bg1"/>
                          </a:solidFill>
                          <a:latin typeface="Eras Demi ITC" panose="020B0805030504020804" pitchFamily="34" charset="0"/>
                        </a:rPr>
                        <a:t>.freight_value</a:t>
                      </a:r>
                      <a:endParaRPr lang="en-US" b="0" dirty="0">
                        <a:solidFill>
                          <a:schemeClr val="bg1"/>
                        </a:solidFill>
                        <a:latin typeface="Eras Demi ITC" panose="020B08050305040208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11263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/>
                          </a:solidFill>
                          <a:latin typeface="Eras Demi ITC" panose="020B0805030504020804" pitchFamily="34" charset="0"/>
                        </a:rPr>
                        <a:t>Null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 err="1">
                          <a:solidFill>
                            <a:srgbClr val="F59E0B"/>
                          </a:solidFill>
                          <a:latin typeface="Eras Demi ITC" panose="020B0805030504020804" pitchFamily="34" charset="0"/>
                        </a:rPr>
                        <a:t>products</a:t>
                      </a:r>
                      <a:r>
                        <a:rPr lang="en-US" b="0" dirty="0" err="1">
                          <a:solidFill>
                            <a:schemeClr val="bg1"/>
                          </a:solidFill>
                          <a:latin typeface="Eras Demi ITC" panose="020B0805030504020804" pitchFamily="34" charset="0"/>
                        </a:rPr>
                        <a:t>.product_category_name</a:t>
                      </a:r>
                      <a:endParaRPr lang="en-US" b="0" dirty="0">
                        <a:solidFill>
                          <a:schemeClr val="bg1"/>
                        </a:solidFill>
                        <a:latin typeface="Eras Demi ITC" panose="020B08050305040208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53772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250553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rgbClr val="1F3A8A"/>
            </a:gs>
            <a:gs pos="0">
              <a:srgbClr val="1F3A8A">
                <a:alpha val="0"/>
              </a:srgb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7B5D5A-6E45-47EB-A282-FA343AC58A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4401" y="685800"/>
            <a:ext cx="6778624" cy="892629"/>
          </a:xfrm>
        </p:spPr>
        <p:txBody>
          <a:bodyPr>
            <a:normAutofit fontScale="90000"/>
          </a:bodyPr>
          <a:lstStyle/>
          <a:p>
            <a:r>
              <a:rPr lang="en-US" sz="5300" dirty="0">
                <a:solidFill>
                  <a:srgbClr val="1F3A8A"/>
                </a:solidFill>
                <a:latin typeface="Eras Demi ITC" panose="020B0805030504020804" pitchFamily="34" charset="0"/>
              </a:rPr>
              <a:t>Data Merging Strategy</a:t>
            </a:r>
            <a:endParaRPr lang="en-US"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A052F992-B35C-4562-8BE5-2F79B317B6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48542" y="1578429"/>
            <a:ext cx="10243457" cy="4223657"/>
          </a:xfrm>
        </p:spPr>
        <p:txBody>
          <a:bodyPr>
            <a:normAutofit/>
          </a:bodyPr>
          <a:lstStyle/>
          <a:p>
            <a:pPr>
              <a:buClr>
                <a:srgbClr val="F59E0B"/>
              </a:buClr>
              <a:buFont typeface="Wingdings" panose="05000000000000000000" pitchFamily="2" charset="2"/>
              <a:buChar char="Ø"/>
            </a:pPr>
            <a:r>
              <a:rPr lang="en-US" sz="3600" dirty="0">
                <a:solidFill>
                  <a:schemeClr val="bg1"/>
                </a:solidFill>
                <a:latin typeface="Eras Demi ITC" panose="020B0805030504020804" pitchFamily="34" charset="0"/>
              </a:rPr>
              <a:t>Identified the primary keys in each dataset</a:t>
            </a:r>
          </a:p>
          <a:p>
            <a:pPr>
              <a:buClr>
                <a:srgbClr val="F59E0B"/>
              </a:buClr>
              <a:buFont typeface="Wingdings" panose="05000000000000000000" pitchFamily="2" charset="2"/>
              <a:buChar char="Ø"/>
            </a:pPr>
            <a:r>
              <a:rPr lang="en-US" sz="3600" dirty="0">
                <a:solidFill>
                  <a:schemeClr val="bg1"/>
                </a:solidFill>
                <a:latin typeface="Eras Demi ITC" panose="020B0805030504020804" pitchFamily="34" charset="0"/>
              </a:rPr>
              <a:t>Used </a:t>
            </a:r>
            <a:r>
              <a:rPr lang="en-US" sz="3600" dirty="0" err="1">
                <a:solidFill>
                  <a:schemeClr val="bg1"/>
                </a:solidFill>
                <a:latin typeface="Eras Demi ITC" panose="020B0805030504020804" pitchFamily="34" charset="0"/>
              </a:rPr>
              <a:t>olist_order_items</a:t>
            </a:r>
            <a:r>
              <a:rPr lang="en-US" sz="3600" dirty="0">
                <a:solidFill>
                  <a:schemeClr val="bg1"/>
                </a:solidFill>
                <a:latin typeface="Eras Demi ITC" panose="020B0805030504020804" pitchFamily="34" charset="0"/>
              </a:rPr>
              <a:t> as the base table (fact table)</a:t>
            </a:r>
          </a:p>
          <a:p>
            <a:pPr>
              <a:buClr>
                <a:srgbClr val="F59E0B"/>
              </a:buClr>
              <a:buFont typeface="Wingdings" panose="05000000000000000000" pitchFamily="2" charset="2"/>
              <a:buChar char="Ø"/>
            </a:pPr>
            <a:r>
              <a:rPr lang="en-US" sz="3600" dirty="0">
                <a:solidFill>
                  <a:schemeClr val="bg1"/>
                </a:solidFill>
                <a:latin typeface="Eras Demi ITC" panose="020B0805030504020804" pitchFamily="34" charset="0"/>
              </a:rPr>
              <a:t>Left Join was the join technique used.</a:t>
            </a:r>
          </a:p>
          <a:p>
            <a:pPr>
              <a:buClr>
                <a:srgbClr val="F59E0B"/>
              </a:buClr>
              <a:buFont typeface="Wingdings" panose="05000000000000000000" pitchFamily="2" charset="2"/>
              <a:buChar char="Ø"/>
            </a:pPr>
            <a:r>
              <a:rPr lang="en-US" sz="3600" dirty="0" err="1">
                <a:solidFill>
                  <a:schemeClr val="bg1"/>
                </a:solidFill>
                <a:latin typeface="Eras Demi ITC" panose="020B0805030504020804" pitchFamily="34" charset="0"/>
              </a:rPr>
              <a:t>order_items</a:t>
            </a:r>
            <a:r>
              <a:rPr lang="en-US" sz="3600" dirty="0">
                <a:solidFill>
                  <a:schemeClr val="bg1"/>
                </a:solidFill>
                <a:latin typeface="Eras Demi ITC" panose="020B0805030504020804" pitchFamily="34" charset="0"/>
              </a:rPr>
              <a:t> &gt;&gt; orders &gt;&gt; customers &gt;&gt; products &gt;&gt; </a:t>
            </a:r>
            <a:r>
              <a:rPr lang="en-US" sz="3600" dirty="0" err="1">
                <a:solidFill>
                  <a:schemeClr val="bg1"/>
                </a:solidFill>
                <a:latin typeface="Eras Demi ITC" panose="020B0805030504020804" pitchFamily="34" charset="0"/>
              </a:rPr>
              <a:t>order_payments</a:t>
            </a:r>
            <a:endParaRPr lang="en-US" sz="3600" dirty="0">
              <a:solidFill>
                <a:schemeClr val="bg1"/>
              </a:solidFill>
              <a:latin typeface="Eras Demi ITC" panose="020B08050305040208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071306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flip="none" rotWithShape="1">
          <a:gsLst>
            <a:gs pos="100000">
              <a:srgbClr val="1F3A8A"/>
            </a:gs>
            <a:gs pos="0">
              <a:srgbClr val="1F3A8A">
                <a:alpha val="0"/>
              </a:srgb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rrow: Right 7">
            <a:extLst>
              <a:ext uri="{FF2B5EF4-FFF2-40B4-BE49-F238E27FC236}">
                <a16:creationId xmlns:a16="http://schemas.microsoft.com/office/drawing/2014/main" id="{5C26B1B2-B23A-4504-94A6-8411822DB893}"/>
              </a:ext>
            </a:extLst>
          </p:cNvPr>
          <p:cNvSpPr/>
          <p:nvPr/>
        </p:nvSpPr>
        <p:spPr>
          <a:xfrm>
            <a:off x="805543" y="582386"/>
            <a:ext cx="678767" cy="751114"/>
          </a:xfrm>
          <a:prstGeom prst="rightArrow">
            <a:avLst/>
          </a:prstGeom>
          <a:solidFill>
            <a:srgbClr val="F59E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3899E38-D75E-4FBB-9F0E-AD9AEA426D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1303325"/>
              </p:ext>
            </p:extLst>
          </p:nvPr>
        </p:nvGraphicFramePr>
        <p:xfrm>
          <a:off x="1687286" y="582386"/>
          <a:ext cx="10210800" cy="6143384"/>
        </p:xfrm>
        <a:graphic>
          <a:graphicData uri="http://schemas.openxmlformats.org/drawingml/2006/table">
            <a:tbl>
              <a:tblPr firstRow="1" firstCol="1" bandRow="1">
                <a:tableStyleId>{BC89EF96-8CEA-46FF-86C4-4CE0E7609802}</a:tableStyleId>
              </a:tblPr>
              <a:tblGrid>
                <a:gridCol w="2111828">
                  <a:extLst>
                    <a:ext uri="{9D8B030D-6E8A-4147-A177-3AD203B41FA5}">
                      <a16:colId xmlns:a16="http://schemas.microsoft.com/office/drawing/2014/main" val="4183234586"/>
                    </a:ext>
                  </a:extLst>
                </a:gridCol>
                <a:gridCol w="1611086">
                  <a:extLst>
                    <a:ext uri="{9D8B030D-6E8A-4147-A177-3AD203B41FA5}">
                      <a16:colId xmlns:a16="http://schemas.microsoft.com/office/drawing/2014/main" val="691739550"/>
                    </a:ext>
                  </a:extLst>
                </a:gridCol>
                <a:gridCol w="6487886">
                  <a:extLst>
                    <a:ext uri="{9D8B030D-6E8A-4147-A177-3AD203B41FA5}">
                      <a16:colId xmlns:a16="http://schemas.microsoft.com/office/drawing/2014/main" val="4029903875"/>
                    </a:ext>
                  </a:extLst>
                </a:gridCol>
              </a:tblGrid>
              <a:tr h="43243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1F3A8A"/>
                          </a:solidFill>
                          <a:effectLst/>
                          <a:latin typeface="Eras Demi ITC" panose="020B0805030504020804" pitchFamily="34" charset="0"/>
                        </a:rPr>
                        <a:t>Dataset</a:t>
                      </a:r>
                      <a:endParaRPr lang="en-US" sz="2000" dirty="0">
                        <a:solidFill>
                          <a:srgbClr val="1F3A8A"/>
                        </a:solidFill>
                        <a:effectLst/>
                        <a:latin typeface="Eras Demi ITC" panose="020B08050305040208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rgbClr val="1F3A8A"/>
                          </a:solidFill>
                          <a:effectLst/>
                          <a:latin typeface="Eras Demi ITC" panose="020B0805030504020804" pitchFamily="34" charset="0"/>
                        </a:rPr>
                        <a:t>Key</a:t>
                      </a:r>
                      <a:endParaRPr lang="en-US" sz="2000">
                        <a:solidFill>
                          <a:srgbClr val="1F3A8A"/>
                        </a:solidFill>
                        <a:effectLst/>
                        <a:latin typeface="Eras Demi ITC" panose="020B08050305040208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1F3A8A"/>
                          </a:solidFill>
                          <a:effectLst/>
                          <a:latin typeface="Eras Demi ITC" panose="020B0805030504020804" pitchFamily="34" charset="0"/>
                        </a:rPr>
                        <a:t>Related key(s)</a:t>
                      </a:r>
                      <a:endParaRPr lang="en-US" sz="2000" dirty="0">
                        <a:solidFill>
                          <a:srgbClr val="1F3A8A"/>
                        </a:solidFill>
                        <a:effectLst/>
                        <a:latin typeface="Eras Demi ITC" panose="020B08050305040208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67270979"/>
                  </a:ext>
                </a:extLst>
              </a:tr>
              <a:tr h="896343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chemeClr val="bg1"/>
                          </a:solidFill>
                          <a:effectLst/>
                          <a:latin typeface="Eras Demi ITC" panose="020B0805030504020804" pitchFamily="34" charset="0"/>
                        </a:rPr>
                        <a:t>customers</a:t>
                      </a:r>
                      <a:endParaRPr lang="en-US" sz="2000">
                        <a:solidFill>
                          <a:schemeClr val="bg1"/>
                        </a:solidFill>
                        <a:effectLst/>
                        <a:latin typeface="Eras Demi ITC" panose="020B08050305040208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chemeClr val="bg1"/>
                          </a:solidFill>
                          <a:effectLst/>
                          <a:latin typeface="Eras Demi ITC" panose="020B0805030504020804" pitchFamily="34" charset="0"/>
                        </a:rPr>
                        <a:t>customer_id</a:t>
                      </a:r>
                      <a:endParaRPr lang="en-US" sz="2000">
                        <a:solidFill>
                          <a:schemeClr val="bg1"/>
                        </a:solidFill>
                        <a:effectLst/>
                        <a:latin typeface="Eras Demi ITC" panose="020B08050305040208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 err="1">
                          <a:solidFill>
                            <a:schemeClr val="bg1"/>
                          </a:solidFill>
                          <a:effectLst/>
                          <a:latin typeface="Eras Demi ITC" panose="020B0805030504020804" pitchFamily="34" charset="0"/>
                        </a:rPr>
                        <a:t>orders.customer_id</a:t>
                      </a:r>
                      <a:endParaRPr lang="en-US" sz="2000" dirty="0">
                        <a:solidFill>
                          <a:schemeClr val="bg1"/>
                        </a:solidFill>
                        <a:effectLst/>
                        <a:latin typeface="Eras Demi ITC" panose="020B08050305040208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95493463"/>
                  </a:ext>
                </a:extLst>
              </a:tr>
              <a:tr h="182415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chemeClr val="bg1"/>
                          </a:solidFill>
                          <a:effectLst/>
                          <a:latin typeface="Eras Demi ITC" panose="020B0805030504020804" pitchFamily="34" charset="0"/>
                        </a:rPr>
                        <a:t>orders</a:t>
                      </a:r>
                      <a:endParaRPr lang="en-US" sz="2000">
                        <a:solidFill>
                          <a:schemeClr val="bg1"/>
                        </a:solidFill>
                        <a:effectLst/>
                        <a:latin typeface="Eras Demi ITC" panose="020B08050305040208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chemeClr val="bg1"/>
                          </a:solidFill>
                          <a:effectLst/>
                          <a:latin typeface="Eras Demi ITC" panose="020B0805030504020804" pitchFamily="34" charset="0"/>
                        </a:rPr>
                        <a:t>order_id</a:t>
                      </a:r>
                      <a:endParaRPr lang="en-US" sz="2000">
                        <a:solidFill>
                          <a:schemeClr val="bg1"/>
                        </a:solidFill>
                        <a:effectLst/>
                        <a:latin typeface="Eras Demi ITC" panose="020B08050305040208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 err="1">
                          <a:solidFill>
                            <a:schemeClr val="bg1"/>
                          </a:solidFill>
                          <a:effectLst/>
                          <a:latin typeface="Eras Demi ITC" panose="020B0805030504020804" pitchFamily="34" charset="0"/>
                        </a:rPr>
                        <a:t>order_items.order_id</a:t>
                      </a:r>
                      <a:r>
                        <a:rPr lang="en-US" sz="2000" dirty="0">
                          <a:solidFill>
                            <a:schemeClr val="bg1"/>
                          </a:solidFill>
                          <a:effectLst/>
                          <a:latin typeface="Eras Demi ITC" panose="020B0805030504020804" pitchFamily="34" charset="0"/>
                        </a:rPr>
                        <a:t>; </a:t>
                      </a:r>
                      <a:r>
                        <a:rPr lang="en-US" sz="2000" dirty="0" err="1">
                          <a:solidFill>
                            <a:schemeClr val="bg1"/>
                          </a:solidFill>
                          <a:effectLst/>
                          <a:latin typeface="Eras Demi ITC" panose="020B0805030504020804" pitchFamily="34" charset="0"/>
                        </a:rPr>
                        <a:t>order_payments.order_id</a:t>
                      </a:r>
                      <a:endParaRPr lang="en-US" sz="2000" dirty="0">
                        <a:solidFill>
                          <a:schemeClr val="bg1"/>
                        </a:solidFill>
                        <a:effectLst/>
                        <a:latin typeface="Eras Demi ITC" panose="020B08050305040208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56490696"/>
                  </a:ext>
                </a:extLst>
              </a:tr>
              <a:tr h="136024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 err="1">
                          <a:solidFill>
                            <a:schemeClr val="bg1"/>
                          </a:solidFill>
                          <a:effectLst/>
                          <a:latin typeface="Eras Demi ITC" panose="020B0805030504020804" pitchFamily="34" charset="0"/>
                        </a:rPr>
                        <a:t>order_items</a:t>
                      </a:r>
                      <a:endParaRPr lang="en-US" sz="2000" dirty="0">
                        <a:solidFill>
                          <a:schemeClr val="bg1"/>
                        </a:solidFill>
                        <a:effectLst/>
                        <a:latin typeface="Eras Demi ITC" panose="020B08050305040208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 err="1">
                          <a:solidFill>
                            <a:schemeClr val="bg1"/>
                          </a:solidFill>
                          <a:effectLst/>
                          <a:latin typeface="Eras Demi ITC" panose="020B0805030504020804" pitchFamily="34" charset="0"/>
                        </a:rPr>
                        <a:t>order_id</a:t>
                      </a:r>
                      <a:endParaRPr lang="en-US" sz="2000" dirty="0">
                        <a:solidFill>
                          <a:schemeClr val="bg1"/>
                        </a:solidFill>
                        <a:effectLst/>
                        <a:latin typeface="Eras Demi ITC" panose="020B08050305040208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 err="1">
                          <a:solidFill>
                            <a:schemeClr val="bg1"/>
                          </a:solidFill>
                          <a:effectLst/>
                          <a:latin typeface="Eras Demi ITC" panose="020B0805030504020804" pitchFamily="34" charset="0"/>
                        </a:rPr>
                        <a:t>orders.order_id</a:t>
                      </a:r>
                      <a:r>
                        <a:rPr lang="en-US" sz="2000" dirty="0">
                          <a:solidFill>
                            <a:schemeClr val="bg1"/>
                          </a:solidFill>
                          <a:effectLst/>
                          <a:latin typeface="Eras Demi ITC" panose="020B0805030504020804" pitchFamily="34" charset="0"/>
                        </a:rPr>
                        <a:t>;</a:t>
                      </a:r>
                      <a:endParaRPr lang="en-US" sz="2000" dirty="0">
                        <a:solidFill>
                          <a:schemeClr val="bg1"/>
                        </a:solidFill>
                        <a:effectLst/>
                        <a:latin typeface="Eras Demi ITC" panose="020B08050305040208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11503217"/>
                  </a:ext>
                </a:extLst>
              </a:tr>
              <a:tr h="73385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chemeClr val="bg1"/>
                          </a:solidFill>
                          <a:effectLst/>
                          <a:latin typeface="Eras Demi ITC" panose="020B0805030504020804" pitchFamily="34" charset="0"/>
                        </a:rPr>
                        <a:t>order_payments</a:t>
                      </a:r>
                      <a:endParaRPr lang="en-US" sz="2000">
                        <a:solidFill>
                          <a:schemeClr val="bg1"/>
                        </a:solidFill>
                        <a:effectLst/>
                        <a:latin typeface="Eras Demi ITC" panose="020B08050305040208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 err="1">
                          <a:solidFill>
                            <a:schemeClr val="bg1"/>
                          </a:solidFill>
                          <a:effectLst/>
                          <a:latin typeface="Eras Demi ITC" panose="020B0805030504020804" pitchFamily="34" charset="0"/>
                        </a:rPr>
                        <a:t>order_id</a:t>
                      </a:r>
                      <a:endParaRPr lang="en-US" sz="2000" dirty="0">
                        <a:solidFill>
                          <a:schemeClr val="bg1"/>
                        </a:solidFill>
                        <a:effectLst/>
                        <a:latin typeface="Eras Demi ITC" panose="020B08050305040208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chemeClr val="bg1"/>
                          </a:solidFill>
                          <a:effectLst/>
                          <a:latin typeface="Eras Demi ITC" panose="020B0805030504020804" pitchFamily="34" charset="0"/>
                        </a:rPr>
                        <a:t>orders.order_id</a:t>
                      </a:r>
                      <a:endParaRPr lang="en-US" sz="2000">
                        <a:solidFill>
                          <a:schemeClr val="bg1"/>
                        </a:solidFill>
                        <a:effectLst/>
                        <a:latin typeface="Eras Demi ITC" panose="020B08050305040208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54175476"/>
                  </a:ext>
                </a:extLst>
              </a:tr>
              <a:tr h="896343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chemeClr val="bg1"/>
                          </a:solidFill>
                          <a:effectLst/>
                          <a:latin typeface="Eras Demi ITC" panose="020B0805030504020804" pitchFamily="34" charset="0"/>
                        </a:rPr>
                        <a:t>products</a:t>
                      </a:r>
                      <a:endParaRPr lang="en-US" sz="2000">
                        <a:solidFill>
                          <a:schemeClr val="bg1"/>
                        </a:solidFill>
                        <a:effectLst/>
                        <a:latin typeface="Eras Demi ITC" panose="020B08050305040208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chemeClr val="bg1"/>
                          </a:solidFill>
                          <a:effectLst/>
                          <a:latin typeface="Eras Demi ITC" panose="020B0805030504020804" pitchFamily="34" charset="0"/>
                        </a:rPr>
                        <a:t>product_id</a:t>
                      </a:r>
                      <a:endParaRPr lang="en-US" sz="2000">
                        <a:solidFill>
                          <a:schemeClr val="bg1"/>
                        </a:solidFill>
                        <a:effectLst/>
                        <a:latin typeface="Eras Demi ITC" panose="020B08050305040208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 err="1">
                          <a:solidFill>
                            <a:schemeClr val="bg1"/>
                          </a:solidFill>
                          <a:effectLst/>
                          <a:latin typeface="Eras Demi ITC" panose="020B0805030504020804" pitchFamily="34" charset="0"/>
                        </a:rPr>
                        <a:t>order_items.product_id</a:t>
                      </a:r>
                      <a:endParaRPr lang="en-US" sz="2000" dirty="0">
                        <a:solidFill>
                          <a:schemeClr val="bg1"/>
                        </a:solidFill>
                        <a:effectLst/>
                        <a:latin typeface="Eras Demi ITC" panose="020B08050305040208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284453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1828355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rgbClr val="1F3A8A"/>
            </a:gs>
            <a:gs pos="0">
              <a:srgbClr val="1F3A8A">
                <a:alpha val="0"/>
              </a:srgb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7B5D5A-6E45-47EB-A282-FA343AC58A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19600" y="685801"/>
            <a:ext cx="7083424" cy="674914"/>
          </a:xfrm>
        </p:spPr>
        <p:txBody>
          <a:bodyPr>
            <a:noAutofit/>
          </a:bodyPr>
          <a:lstStyle/>
          <a:p>
            <a:pPr algn="r"/>
            <a:r>
              <a:rPr lang="en-US" sz="4800" dirty="0">
                <a:solidFill>
                  <a:srgbClr val="1F3A8A"/>
                </a:solidFill>
                <a:latin typeface="Eras Demi ITC" panose="020B0805030504020804" pitchFamily="34" charset="0"/>
              </a:rPr>
              <a:t>Dashboard Explanation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100CCA4-F5FF-48CB-8AD9-3A23DD8244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05000" y="1861457"/>
            <a:ext cx="10287000" cy="4996543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3200" dirty="0">
                <a:solidFill>
                  <a:schemeClr val="bg1"/>
                </a:solidFill>
                <a:latin typeface="Eras Demi ITC" panose="020B0805030504020804" pitchFamily="34" charset="0"/>
              </a:rPr>
              <a:t>Two KPIs – Total Revenue and Total Orders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3200" dirty="0">
                <a:solidFill>
                  <a:schemeClr val="bg1"/>
                </a:solidFill>
                <a:latin typeface="Eras Demi ITC" panose="020B0805030504020804" pitchFamily="34" charset="0"/>
              </a:rPr>
              <a:t>Four charts –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Eras Demi ITC" panose="020B0805030504020804" pitchFamily="34" charset="0"/>
              </a:rPr>
              <a:t>Sales Trend over Time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Eras Demi ITC" panose="020B0805030504020804" pitchFamily="34" charset="0"/>
              </a:rPr>
              <a:t>Best Selling Products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Eras Demi ITC" panose="020B0805030504020804" pitchFamily="34" charset="0"/>
              </a:rPr>
              <a:t>Most Used Payment Methods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Eras Demi ITC" panose="020B0805030504020804" pitchFamily="34" charset="0"/>
              </a:rPr>
              <a:t>Top 5 Performing States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3200" dirty="0">
                <a:solidFill>
                  <a:schemeClr val="bg1"/>
                </a:solidFill>
                <a:latin typeface="Eras Demi ITC" panose="020B0805030504020804" pitchFamily="34" charset="0"/>
              </a:rPr>
              <a:t>Used Goshen colors</a:t>
            </a:r>
          </a:p>
        </p:txBody>
      </p:sp>
    </p:spTree>
    <p:extLst>
      <p:ext uri="{BB962C8B-B14F-4D97-AF65-F5344CB8AC3E}">
        <p14:creationId xmlns:p14="http://schemas.microsoft.com/office/powerpoint/2010/main" val="428696584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flip="none" rotWithShape="1">
          <a:gsLst>
            <a:gs pos="100000">
              <a:srgbClr val="1F3A8A"/>
            </a:gs>
            <a:gs pos="0">
              <a:srgbClr val="1F3A8A">
                <a:alpha val="0"/>
              </a:srgb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rrow: Right 7">
            <a:extLst>
              <a:ext uri="{FF2B5EF4-FFF2-40B4-BE49-F238E27FC236}">
                <a16:creationId xmlns:a16="http://schemas.microsoft.com/office/drawing/2014/main" id="{5C26B1B2-B23A-4504-94A6-8411822DB893}"/>
              </a:ext>
            </a:extLst>
          </p:cNvPr>
          <p:cNvSpPr/>
          <p:nvPr/>
        </p:nvSpPr>
        <p:spPr>
          <a:xfrm>
            <a:off x="228600" y="370114"/>
            <a:ext cx="678767" cy="751114"/>
          </a:xfrm>
          <a:prstGeom prst="rightArrow">
            <a:avLst/>
          </a:prstGeom>
          <a:solidFill>
            <a:srgbClr val="F59E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E0F4616-96C5-4926-89EA-89896DE47E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1486" y="370114"/>
            <a:ext cx="10809514" cy="6226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01228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rgbClr val="1F3A8A"/>
            </a:gs>
            <a:gs pos="0">
              <a:srgbClr val="1F3A8A">
                <a:alpha val="0"/>
              </a:srgb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7B5D5A-6E45-47EB-A282-FA343AC58A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96200" y="685800"/>
            <a:ext cx="3806825" cy="892629"/>
          </a:xfrm>
        </p:spPr>
        <p:txBody>
          <a:bodyPr>
            <a:normAutofit fontScale="90000"/>
          </a:bodyPr>
          <a:lstStyle/>
          <a:p>
            <a:r>
              <a:rPr lang="en-US" sz="5300" dirty="0">
                <a:solidFill>
                  <a:srgbClr val="1F3A8A"/>
                </a:solidFill>
                <a:latin typeface="Eras Demi ITC" panose="020B0805030504020804" pitchFamily="34" charset="0"/>
              </a:rPr>
              <a:t>Key Insights</a:t>
            </a:r>
            <a:endParaRPr lang="en-US"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A052F992-B35C-4562-8BE5-2F79B317B6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48542" y="1578429"/>
            <a:ext cx="10243457" cy="5279571"/>
          </a:xfrm>
        </p:spPr>
        <p:txBody>
          <a:bodyPr>
            <a:normAutofit fontScale="92500"/>
          </a:bodyPr>
          <a:lstStyle/>
          <a:p>
            <a:pPr>
              <a:buClr>
                <a:srgbClr val="F59E0B"/>
              </a:buClr>
              <a:buFont typeface="Wingdings" panose="05000000000000000000" pitchFamily="2" charset="2"/>
              <a:buChar char="Ø"/>
            </a:pPr>
            <a:r>
              <a:rPr lang="en-US" sz="3600" dirty="0">
                <a:solidFill>
                  <a:schemeClr val="bg1"/>
                </a:solidFill>
                <a:latin typeface="Eras Demi ITC" panose="020B0805030504020804" pitchFamily="34" charset="0"/>
              </a:rPr>
              <a:t>Revenue is geographically concentrated. Sao Paulo alone contributed 37.4% of delivered payment.</a:t>
            </a:r>
          </a:p>
          <a:p>
            <a:pPr>
              <a:buClr>
                <a:srgbClr val="F59E0B"/>
              </a:buClr>
              <a:buFont typeface="Wingdings" panose="05000000000000000000" pitchFamily="2" charset="2"/>
              <a:buChar char="Ø"/>
            </a:pPr>
            <a:r>
              <a:rPr lang="en-US" sz="3600" dirty="0">
                <a:solidFill>
                  <a:schemeClr val="bg1"/>
                </a:solidFill>
                <a:latin typeface="Eras Demi ITC" panose="020B0805030504020804" pitchFamily="34" charset="0"/>
              </a:rPr>
              <a:t>There is massive growth in Revenue from January 2017 to January 2018 but November 2017 was the highest revenue month.</a:t>
            </a:r>
          </a:p>
          <a:p>
            <a:pPr>
              <a:buClr>
                <a:srgbClr val="F59E0B"/>
              </a:buClr>
              <a:buFont typeface="Wingdings" panose="05000000000000000000" pitchFamily="2" charset="2"/>
              <a:buChar char="Ø"/>
            </a:pPr>
            <a:r>
              <a:rPr lang="en-US" sz="3600" dirty="0">
                <a:solidFill>
                  <a:schemeClr val="bg1"/>
                </a:solidFill>
                <a:latin typeface="Eras Demi ITC" panose="020B0805030504020804" pitchFamily="34" charset="0"/>
              </a:rPr>
              <a:t>Most used payment type was the Credit card, Voucher method which holds about 43% of total revenue.</a:t>
            </a:r>
          </a:p>
        </p:txBody>
      </p:sp>
    </p:spTree>
    <p:extLst>
      <p:ext uri="{BB962C8B-B14F-4D97-AF65-F5344CB8AC3E}">
        <p14:creationId xmlns:p14="http://schemas.microsoft.com/office/powerpoint/2010/main" val="83425115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flip="none" rotWithShape="1">
          <a:gsLst>
            <a:gs pos="100000">
              <a:srgbClr val="1F3A8A"/>
            </a:gs>
            <a:gs pos="0">
              <a:srgbClr val="1F3A8A">
                <a:alpha val="0"/>
              </a:srgb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D2B46-7879-4C17-9C0F-E49A47A8C6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522514"/>
            <a:ext cx="10018713" cy="859972"/>
          </a:xfrm>
        </p:spPr>
        <p:txBody>
          <a:bodyPr>
            <a:normAutofit/>
          </a:bodyPr>
          <a:lstStyle/>
          <a:p>
            <a:pPr algn="l"/>
            <a:r>
              <a:rPr lang="en-US" sz="4800" dirty="0">
                <a:solidFill>
                  <a:srgbClr val="1F3A8A"/>
                </a:solidFill>
                <a:latin typeface="Eras Demi ITC" panose="020B0805030504020804" pitchFamily="34" charset="0"/>
              </a:rPr>
              <a:t>Business Recommendations</a:t>
            </a:r>
            <a:endParaRPr lang="en-US" sz="4400" dirty="0">
              <a:solidFill>
                <a:srgbClr val="1F3A8A"/>
              </a:solidFill>
              <a:latin typeface="Eras Demi ITC" panose="020B08050305040208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7A15F2-4B8E-4E9F-87A8-42D6E40C74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382486"/>
            <a:ext cx="10707690" cy="5475514"/>
          </a:xfrm>
        </p:spPr>
        <p:txBody>
          <a:bodyPr>
            <a:normAutofit lnSpcReduction="10000"/>
          </a:bodyPr>
          <a:lstStyle/>
          <a:p>
            <a:pPr>
              <a:buClr>
                <a:srgbClr val="F59E0B"/>
              </a:buClr>
              <a:buFont typeface="Wingdings" panose="05000000000000000000" pitchFamily="2" charset="2"/>
              <a:buChar char="Ø"/>
            </a:pPr>
            <a:r>
              <a:rPr lang="en-US" sz="3200" dirty="0">
                <a:solidFill>
                  <a:schemeClr val="bg1"/>
                </a:solidFill>
                <a:latin typeface="Eras Demi ITC" panose="020B0805030504020804" pitchFamily="34" charset="0"/>
              </a:rPr>
              <a:t>Improve performance in weaker states by developing targeted promotions and strengthen marketing and customer engagements.</a:t>
            </a:r>
          </a:p>
          <a:p>
            <a:pPr>
              <a:buClr>
                <a:srgbClr val="F59E0B"/>
              </a:buClr>
              <a:buFont typeface="Wingdings" panose="05000000000000000000" pitchFamily="2" charset="2"/>
              <a:buChar char="Ø"/>
            </a:pPr>
            <a:r>
              <a:rPr lang="en-US" sz="3200" dirty="0">
                <a:solidFill>
                  <a:schemeClr val="bg1"/>
                </a:solidFill>
                <a:latin typeface="Eras Demi ITC" panose="020B0805030504020804" pitchFamily="34" charset="0"/>
              </a:rPr>
              <a:t>The organization must stop overlooking the decline in sales trend and poor performing products. Investigate the decline in sales, products and payment options.</a:t>
            </a:r>
          </a:p>
          <a:p>
            <a:pPr>
              <a:buClr>
                <a:srgbClr val="F59E0B"/>
              </a:buClr>
              <a:buFont typeface="Wingdings" panose="05000000000000000000" pitchFamily="2" charset="2"/>
              <a:buChar char="Ø"/>
            </a:pPr>
            <a:r>
              <a:rPr lang="en-US" sz="3200" dirty="0">
                <a:solidFill>
                  <a:schemeClr val="bg1"/>
                </a:solidFill>
                <a:latin typeface="Eras Demi ITC" panose="020B0805030504020804" pitchFamily="34" charset="0"/>
              </a:rPr>
              <a:t>Invest in promotion and inventory increase for Best selling products. Focus heavily on the most used payment methods and optimize them for more customers in different regions.</a:t>
            </a: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5C26B1B2-B23A-4504-94A6-8411822DB893}"/>
              </a:ext>
            </a:extLst>
          </p:cNvPr>
          <p:cNvSpPr/>
          <p:nvPr/>
        </p:nvSpPr>
        <p:spPr>
          <a:xfrm>
            <a:off x="805543" y="582386"/>
            <a:ext cx="678767" cy="751114"/>
          </a:xfrm>
          <a:prstGeom prst="rightArrow">
            <a:avLst/>
          </a:prstGeom>
          <a:solidFill>
            <a:srgbClr val="F59E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28782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rgbClr val="1F3A8A"/>
            </a:gs>
            <a:gs pos="0">
              <a:srgbClr val="1F3A8A">
                <a:alpha val="0"/>
              </a:srgb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7B5D5A-6E45-47EB-A282-FA343AC58A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4914" y="500743"/>
            <a:ext cx="7170511" cy="892629"/>
          </a:xfrm>
        </p:spPr>
        <p:txBody>
          <a:bodyPr>
            <a:normAutofit fontScale="90000"/>
          </a:bodyPr>
          <a:lstStyle/>
          <a:p>
            <a:r>
              <a:rPr lang="en-US" sz="5300" dirty="0">
                <a:solidFill>
                  <a:srgbClr val="1F3A8A"/>
                </a:solidFill>
                <a:latin typeface="Eras Demi ITC" panose="020B0805030504020804" pitchFamily="34" charset="0"/>
              </a:rPr>
              <a:t>Group Names and Roles</a:t>
            </a:r>
            <a:endParaRPr lang="en-US"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A052F992-B35C-4562-8BE5-2F79B317B6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26770" y="1393373"/>
            <a:ext cx="10265229" cy="5464628"/>
          </a:xfrm>
        </p:spPr>
        <p:txBody>
          <a:bodyPr>
            <a:normAutofit fontScale="85000" lnSpcReduction="20000"/>
          </a:bodyPr>
          <a:lstStyle/>
          <a:p>
            <a:pPr>
              <a:buClr>
                <a:srgbClr val="F59E0B"/>
              </a:buClr>
              <a:buFont typeface="Wingdings" panose="05000000000000000000" pitchFamily="2" charset="2"/>
              <a:buChar char="Ø"/>
            </a:pPr>
            <a:r>
              <a:rPr lang="en-US" sz="3600" dirty="0">
                <a:solidFill>
                  <a:schemeClr val="bg1"/>
                </a:solidFill>
                <a:latin typeface="Eras Demi ITC" panose="020B0805030504020804" pitchFamily="34" charset="0"/>
              </a:rPr>
              <a:t>Joshua Ahams – Data Quality Assessment, Dashboard, Data cleaning, Presentation,</a:t>
            </a:r>
          </a:p>
          <a:p>
            <a:pPr>
              <a:buClr>
                <a:srgbClr val="F59E0B"/>
              </a:buClr>
              <a:buFont typeface="Wingdings" panose="05000000000000000000" pitchFamily="2" charset="2"/>
              <a:buChar char="Ø"/>
            </a:pPr>
            <a:r>
              <a:rPr lang="en-US" sz="3600" dirty="0" err="1">
                <a:solidFill>
                  <a:schemeClr val="bg1"/>
                </a:solidFill>
                <a:latin typeface="Eras Demi ITC" panose="020B0805030504020804" pitchFamily="34" charset="0"/>
              </a:rPr>
              <a:t>Favour</a:t>
            </a:r>
            <a:r>
              <a:rPr lang="en-US" sz="3600" dirty="0">
                <a:solidFill>
                  <a:schemeClr val="bg1"/>
                </a:solidFill>
                <a:latin typeface="Eras Demi ITC" panose="020B0805030504020804" pitchFamily="34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Eras Demi ITC" panose="020B0805030504020804" pitchFamily="34" charset="0"/>
              </a:rPr>
              <a:t>Moyinoluwa</a:t>
            </a:r>
            <a:r>
              <a:rPr lang="en-US" sz="3600" dirty="0">
                <a:solidFill>
                  <a:schemeClr val="bg1"/>
                </a:solidFill>
                <a:latin typeface="Eras Demi ITC" panose="020B0805030504020804" pitchFamily="34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Eras Demi ITC" panose="020B0805030504020804" pitchFamily="34" charset="0"/>
              </a:rPr>
              <a:t>Ajakaye</a:t>
            </a:r>
            <a:r>
              <a:rPr lang="en-US" sz="3600" dirty="0">
                <a:solidFill>
                  <a:schemeClr val="bg1"/>
                </a:solidFill>
                <a:latin typeface="Eras Demi ITC" panose="020B0805030504020804" pitchFamily="34" charset="0"/>
              </a:rPr>
              <a:t> – Data Quality Assessment, Dashboard, Data cleaning</a:t>
            </a:r>
          </a:p>
          <a:p>
            <a:pPr>
              <a:buClr>
                <a:srgbClr val="F59E0B"/>
              </a:buClr>
              <a:buFont typeface="Wingdings" panose="05000000000000000000" pitchFamily="2" charset="2"/>
              <a:buChar char="Ø"/>
            </a:pPr>
            <a:r>
              <a:rPr lang="en-US" sz="3600" dirty="0" err="1">
                <a:solidFill>
                  <a:schemeClr val="bg1"/>
                </a:solidFill>
                <a:latin typeface="Eras Demi ITC" panose="020B0805030504020804" pitchFamily="34" charset="0"/>
              </a:rPr>
              <a:t>Pinima</a:t>
            </a:r>
            <a:r>
              <a:rPr lang="en-US" sz="3600" dirty="0">
                <a:solidFill>
                  <a:schemeClr val="bg1"/>
                </a:solidFill>
                <a:latin typeface="Eras Demi ITC" panose="020B0805030504020804" pitchFamily="34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Eras Demi ITC" panose="020B0805030504020804" pitchFamily="34" charset="0"/>
              </a:rPr>
              <a:t>Godpower</a:t>
            </a:r>
            <a:r>
              <a:rPr lang="en-US" sz="3600" dirty="0">
                <a:solidFill>
                  <a:schemeClr val="bg1"/>
                </a:solidFill>
                <a:latin typeface="Eras Demi ITC" panose="020B0805030504020804" pitchFamily="34" charset="0"/>
              </a:rPr>
              <a:t> Rufus – Data cleaning, Dashboard,</a:t>
            </a:r>
          </a:p>
          <a:p>
            <a:pPr>
              <a:buClr>
                <a:srgbClr val="F59E0B"/>
              </a:buClr>
              <a:buFont typeface="Wingdings" panose="05000000000000000000" pitchFamily="2" charset="2"/>
              <a:buChar char="Ø"/>
            </a:pPr>
            <a:r>
              <a:rPr lang="en-US" sz="3600" dirty="0">
                <a:solidFill>
                  <a:schemeClr val="bg1"/>
                </a:solidFill>
                <a:latin typeface="Eras Demi ITC" panose="020B0805030504020804" pitchFamily="34" charset="0"/>
              </a:rPr>
              <a:t>David Miracle </a:t>
            </a:r>
            <a:r>
              <a:rPr lang="en-US" sz="3600" dirty="0" err="1">
                <a:solidFill>
                  <a:schemeClr val="bg1"/>
                </a:solidFill>
                <a:latin typeface="Eras Demi ITC" panose="020B0805030504020804" pitchFamily="34" charset="0"/>
              </a:rPr>
              <a:t>Uchechi</a:t>
            </a:r>
            <a:r>
              <a:rPr lang="en-US" sz="3600" dirty="0">
                <a:solidFill>
                  <a:schemeClr val="bg1"/>
                </a:solidFill>
                <a:latin typeface="Eras Demi ITC" panose="020B0805030504020804" pitchFamily="34" charset="0"/>
              </a:rPr>
              <a:t> – Data cleaning</a:t>
            </a:r>
          </a:p>
          <a:p>
            <a:pPr>
              <a:buClr>
                <a:srgbClr val="F59E0B"/>
              </a:buClr>
              <a:buFont typeface="Wingdings" panose="05000000000000000000" pitchFamily="2" charset="2"/>
              <a:buChar char="Ø"/>
            </a:pPr>
            <a:r>
              <a:rPr lang="en-US" sz="3600" dirty="0" err="1">
                <a:solidFill>
                  <a:schemeClr val="bg1"/>
                </a:solidFill>
                <a:latin typeface="Eras Demi ITC" panose="020B0805030504020804" pitchFamily="34" charset="0"/>
              </a:rPr>
              <a:t>Iye</a:t>
            </a:r>
            <a:r>
              <a:rPr lang="en-US" sz="3600" dirty="0">
                <a:solidFill>
                  <a:schemeClr val="bg1"/>
                </a:solidFill>
                <a:latin typeface="Eras Demi ITC" panose="020B0805030504020804" pitchFamily="34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Eras Demi ITC" panose="020B0805030504020804" pitchFamily="34" charset="0"/>
              </a:rPr>
              <a:t>Akintayo</a:t>
            </a:r>
            <a:r>
              <a:rPr lang="en-US" sz="3600" dirty="0">
                <a:solidFill>
                  <a:schemeClr val="bg1"/>
                </a:solidFill>
                <a:latin typeface="Eras Demi ITC" panose="020B0805030504020804" pitchFamily="34" charset="0"/>
              </a:rPr>
              <a:t> Isaiah – </a:t>
            </a:r>
            <a:r>
              <a:rPr lang="en-US" sz="3600">
                <a:solidFill>
                  <a:schemeClr val="bg1"/>
                </a:solidFill>
                <a:latin typeface="Eras Demi ITC" panose="020B0805030504020804" pitchFamily="34" charset="0"/>
              </a:rPr>
              <a:t>Data merging</a:t>
            </a:r>
            <a:endParaRPr lang="en-US" sz="3600" dirty="0">
              <a:solidFill>
                <a:schemeClr val="bg1"/>
              </a:solidFill>
              <a:latin typeface="Eras Demi ITC" panose="020B0805030504020804" pitchFamily="34" charset="0"/>
            </a:endParaRPr>
          </a:p>
          <a:p>
            <a:pPr>
              <a:buClr>
                <a:srgbClr val="F59E0B"/>
              </a:buClr>
              <a:buFont typeface="Wingdings" panose="05000000000000000000" pitchFamily="2" charset="2"/>
              <a:buChar char="Ø"/>
            </a:pPr>
            <a:r>
              <a:rPr lang="en-US" sz="3600" dirty="0" err="1">
                <a:solidFill>
                  <a:schemeClr val="bg1"/>
                </a:solidFill>
                <a:latin typeface="Eras Demi ITC" panose="020B0805030504020804" pitchFamily="34" charset="0"/>
              </a:rPr>
              <a:t>Osarumwense</a:t>
            </a:r>
            <a:r>
              <a:rPr lang="en-US" sz="3600" dirty="0">
                <a:solidFill>
                  <a:schemeClr val="bg1"/>
                </a:solidFill>
                <a:latin typeface="Eras Demi ITC" panose="020B0805030504020804" pitchFamily="34" charset="0"/>
              </a:rPr>
              <a:t> James – Data modeling, Key Insights, Business Recommendation</a:t>
            </a:r>
          </a:p>
          <a:p>
            <a:pPr>
              <a:buClr>
                <a:srgbClr val="F59E0B"/>
              </a:buClr>
              <a:buFont typeface="Wingdings" panose="05000000000000000000" pitchFamily="2" charset="2"/>
              <a:buChar char="Ø"/>
            </a:pPr>
            <a:r>
              <a:rPr lang="en-US" sz="3600" dirty="0">
                <a:solidFill>
                  <a:schemeClr val="bg1"/>
                </a:solidFill>
                <a:latin typeface="Eras Demi ITC" panose="020B0805030504020804" pitchFamily="34" charset="0"/>
              </a:rPr>
              <a:t>Ibrahim </a:t>
            </a:r>
            <a:r>
              <a:rPr lang="en-US" sz="3600" dirty="0" err="1">
                <a:solidFill>
                  <a:schemeClr val="bg1"/>
                </a:solidFill>
                <a:latin typeface="Eras Demi ITC" panose="020B0805030504020804" pitchFamily="34" charset="0"/>
              </a:rPr>
              <a:t>Sukuralahi</a:t>
            </a:r>
            <a:r>
              <a:rPr lang="en-US" sz="3600" dirty="0">
                <a:solidFill>
                  <a:schemeClr val="bg1"/>
                </a:solidFill>
                <a:latin typeface="Eras Demi ITC" panose="020B0805030504020804" pitchFamily="34" charset="0"/>
              </a:rPr>
              <a:t> Abiodun – Data modeling</a:t>
            </a:r>
          </a:p>
        </p:txBody>
      </p:sp>
    </p:spTree>
    <p:extLst>
      <p:ext uri="{BB962C8B-B14F-4D97-AF65-F5344CB8AC3E}">
        <p14:creationId xmlns:p14="http://schemas.microsoft.com/office/powerpoint/2010/main" val="407509982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EB8F22"/>
      </a:accent1>
      <a:accent2>
        <a:srgbClr val="CD4223"/>
      </a:accent2>
      <a:accent3>
        <a:srgbClr val="A89374"/>
      </a:accent3>
      <a:accent4>
        <a:srgbClr val="83AA67"/>
      </a:accent4>
      <a:accent5>
        <a:srgbClr val="4FA9C1"/>
      </a:accent5>
      <a:accent6>
        <a:srgbClr val="9390AF"/>
      </a:accent6>
      <a:hlink>
        <a:srgbClr val="EC7220"/>
      </a:hlink>
      <a:folHlink>
        <a:srgbClr val="F09355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EBEC8F79-A447-43FC-8E81-85E8468AF3F9}"/>
    </a:ext>
  </a:extLst>
</a:theme>
</file>

<file path=ppt/theme/themeOverride1.xml><?xml version="1.0" encoding="utf-8"?>
<a:themeOverride xmlns:a="http://schemas.openxmlformats.org/drawingml/2006/main">
  <a:clrScheme name="Parallax">
    <a:dk1>
      <a:sysClr val="windowText" lastClr="000000"/>
    </a:dk1>
    <a:lt1>
      <a:sysClr val="window" lastClr="FFFFFF"/>
    </a:lt1>
    <a:dk2>
      <a:srgbClr val="212121"/>
    </a:dk2>
    <a:lt2>
      <a:srgbClr val="CDD0D1"/>
    </a:lt2>
    <a:accent1>
      <a:srgbClr val="EB8F22"/>
    </a:accent1>
    <a:accent2>
      <a:srgbClr val="CD4223"/>
    </a:accent2>
    <a:accent3>
      <a:srgbClr val="A89374"/>
    </a:accent3>
    <a:accent4>
      <a:srgbClr val="83AA67"/>
    </a:accent4>
    <a:accent5>
      <a:srgbClr val="4FA9C1"/>
    </a:accent5>
    <a:accent6>
      <a:srgbClr val="9390AF"/>
    </a:accent6>
    <a:hlink>
      <a:srgbClr val="EC7220"/>
    </a:hlink>
    <a:folHlink>
      <a:srgbClr val="F09355"/>
    </a:folHlink>
  </a:clrScheme>
</a:themeOverride>
</file>

<file path=ppt/theme/themeOverride2.xml><?xml version="1.0" encoding="utf-8"?>
<a:themeOverride xmlns:a="http://schemas.openxmlformats.org/drawingml/2006/main">
  <a:clrScheme name="Parallax">
    <a:dk1>
      <a:sysClr val="windowText" lastClr="000000"/>
    </a:dk1>
    <a:lt1>
      <a:sysClr val="window" lastClr="FFFFFF"/>
    </a:lt1>
    <a:dk2>
      <a:srgbClr val="212121"/>
    </a:dk2>
    <a:lt2>
      <a:srgbClr val="CDD0D1"/>
    </a:lt2>
    <a:accent1>
      <a:srgbClr val="EB8F22"/>
    </a:accent1>
    <a:accent2>
      <a:srgbClr val="CD4223"/>
    </a:accent2>
    <a:accent3>
      <a:srgbClr val="A89374"/>
    </a:accent3>
    <a:accent4>
      <a:srgbClr val="83AA67"/>
    </a:accent4>
    <a:accent5>
      <a:srgbClr val="4FA9C1"/>
    </a:accent5>
    <a:accent6>
      <a:srgbClr val="9390AF"/>
    </a:accent6>
    <a:hlink>
      <a:srgbClr val="EC7220"/>
    </a:hlink>
    <a:folHlink>
      <a:srgbClr val="F09355"/>
    </a:folHlink>
  </a:clrScheme>
</a:themeOverride>
</file>

<file path=ppt/theme/themeOverride3.xml><?xml version="1.0" encoding="utf-8"?>
<a:themeOverride xmlns:a="http://schemas.openxmlformats.org/drawingml/2006/main">
  <a:clrScheme name="Parallax">
    <a:dk1>
      <a:sysClr val="windowText" lastClr="000000"/>
    </a:dk1>
    <a:lt1>
      <a:sysClr val="window" lastClr="FFFFFF"/>
    </a:lt1>
    <a:dk2>
      <a:srgbClr val="212121"/>
    </a:dk2>
    <a:lt2>
      <a:srgbClr val="CDD0D1"/>
    </a:lt2>
    <a:accent1>
      <a:srgbClr val="EB8F22"/>
    </a:accent1>
    <a:accent2>
      <a:srgbClr val="CD4223"/>
    </a:accent2>
    <a:accent3>
      <a:srgbClr val="A89374"/>
    </a:accent3>
    <a:accent4>
      <a:srgbClr val="83AA67"/>
    </a:accent4>
    <a:accent5>
      <a:srgbClr val="4FA9C1"/>
    </a:accent5>
    <a:accent6>
      <a:srgbClr val="9390AF"/>
    </a:accent6>
    <a:hlink>
      <a:srgbClr val="EC7220"/>
    </a:hlink>
    <a:folHlink>
      <a:srgbClr val="F09355"/>
    </a:folHlink>
  </a:clrScheme>
</a:themeOverride>
</file>

<file path=ppt/theme/themeOverride4.xml><?xml version="1.0" encoding="utf-8"?>
<a:themeOverride xmlns:a="http://schemas.openxmlformats.org/drawingml/2006/main">
  <a:clrScheme name="Parallax">
    <a:dk1>
      <a:sysClr val="windowText" lastClr="000000"/>
    </a:dk1>
    <a:lt1>
      <a:sysClr val="window" lastClr="FFFFFF"/>
    </a:lt1>
    <a:dk2>
      <a:srgbClr val="212121"/>
    </a:dk2>
    <a:lt2>
      <a:srgbClr val="CDD0D1"/>
    </a:lt2>
    <a:accent1>
      <a:srgbClr val="EB8F22"/>
    </a:accent1>
    <a:accent2>
      <a:srgbClr val="CD4223"/>
    </a:accent2>
    <a:accent3>
      <a:srgbClr val="A89374"/>
    </a:accent3>
    <a:accent4>
      <a:srgbClr val="83AA67"/>
    </a:accent4>
    <a:accent5>
      <a:srgbClr val="4FA9C1"/>
    </a:accent5>
    <a:accent6>
      <a:srgbClr val="9390AF"/>
    </a:accent6>
    <a:hlink>
      <a:srgbClr val="EC7220"/>
    </a:hlink>
    <a:folHlink>
      <a:srgbClr val="F09355"/>
    </a:folHlink>
  </a:clrScheme>
</a:themeOverride>
</file>

<file path=ppt/theme/themeOverride5.xml><?xml version="1.0" encoding="utf-8"?>
<a:themeOverride xmlns:a="http://schemas.openxmlformats.org/drawingml/2006/main">
  <a:clrScheme name="Parallax">
    <a:dk1>
      <a:sysClr val="windowText" lastClr="000000"/>
    </a:dk1>
    <a:lt1>
      <a:sysClr val="window" lastClr="FFFFFF"/>
    </a:lt1>
    <a:dk2>
      <a:srgbClr val="212121"/>
    </a:dk2>
    <a:lt2>
      <a:srgbClr val="CDD0D1"/>
    </a:lt2>
    <a:accent1>
      <a:srgbClr val="EB8F22"/>
    </a:accent1>
    <a:accent2>
      <a:srgbClr val="CD4223"/>
    </a:accent2>
    <a:accent3>
      <a:srgbClr val="A89374"/>
    </a:accent3>
    <a:accent4>
      <a:srgbClr val="83AA67"/>
    </a:accent4>
    <a:accent5>
      <a:srgbClr val="4FA9C1"/>
    </a:accent5>
    <a:accent6>
      <a:srgbClr val="9390AF"/>
    </a:accent6>
    <a:hlink>
      <a:srgbClr val="EC7220"/>
    </a:hlink>
    <a:folHlink>
      <a:srgbClr val="F09355"/>
    </a:folHlink>
  </a:clrScheme>
</a:themeOverride>
</file>

<file path=ppt/theme/themeOverride6.xml><?xml version="1.0" encoding="utf-8"?>
<a:themeOverride xmlns:a="http://schemas.openxmlformats.org/drawingml/2006/main">
  <a:clrScheme name="Parallax">
    <a:dk1>
      <a:sysClr val="windowText" lastClr="000000"/>
    </a:dk1>
    <a:lt1>
      <a:sysClr val="window" lastClr="FFFFFF"/>
    </a:lt1>
    <a:dk2>
      <a:srgbClr val="212121"/>
    </a:dk2>
    <a:lt2>
      <a:srgbClr val="CDD0D1"/>
    </a:lt2>
    <a:accent1>
      <a:srgbClr val="EB8F22"/>
    </a:accent1>
    <a:accent2>
      <a:srgbClr val="CD4223"/>
    </a:accent2>
    <a:accent3>
      <a:srgbClr val="A89374"/>
    </a:accent3>
    <a:accent4>
      <a:srgbClr val="83AA67"/>
    </a:accent4>
    <a:accent5>
      <a:srgbClr val="4FA9C1"/>
    </a:accent5>
    <a:accent6>
      <a:srgbClr val="9390AF"/>
    </a:accent6>
    <a:hlink>
      <a:srgbClr val="EC7220"/>
    </a:hlink>
    <a:folHlink>
      <a:srgbClr val="F09355"/>
    </a:folHlink>
  </a:clrScheme>
</a:themeOverride>
</file>

<file path=ppt/theme/themeOverride7.xml><?xml version="1.0" encoding="utf-8"?>
<a:themeOverride xmlns:a="http://schemas.openxmlformats.org/drawingml/2006/main">
  <a:clrScheme name="Parallax">
    <a:dk1>
      <a:sysClr val="windowText" lastClr="000000"/>
    </a:dk1>
    <a:lt1>
      <a:sysClr val="window" lastClr="FFFFFF"/>
    </a:lt1>
    <a:dk2>
      <a:srgbClr val="212121"/>
    </a:dk2>
    <a:lt2>
      <a:srgbClr val="CDD0D1"/>
    </a:lt2>
    <a:accent1>
      <a:srgbClr val="EB8F22"/>
    </a:accent1>
    <a:accent2>
      <a:srgbClr val="CD4223"/>
    </a:accent2>
    <a:accent3>
      <a:srgbClr val="A89374"/>
    </a:accent3>
    <a:accent4>
      <a:srgbClr val="83AA67"/>
    </a:accent4>
    <a:accent5>
      <a:srgbClr val="4FA9C1"/>
    </a:accent5>
    <a:accent6>
      <a:srgbClr val="9390AF"/>
    </a:accent6>
    <a:hlink>
      <a:srgbClr val="EC7220"/>
    </a:hlink>
    <a:folHlink>
      <a:srgbClr val="F09355"/>
    </a:folHlink>
  </a:clrScheme>
</a:themeOverride>
</file>

<file path=ppt/theme/themeOverride8.xml><?xml version="1.0" encoding="utf-8"?>
<a:themeOverride xmlns:a="http://schemas.openxmlformats.org/drawingml/2006/main">
  <a:clrScheme name="Parallax">
    <a:dk1>
      <a:sysClr val="windowText" lastClr="000000"/>
    </a:dk1>
    <a:lt1>
      <a:sysClr val="window" lastClr="FFFFFF"/>
    </a:lt1>
    <a:dk2>
      <a:srgbClr val="212121"/>
    </a:dk2>
    <a:lt2>
      <a:srgbClr val="CDD0D1"/>
    </a:lt2>
    <a:accent1>
      <a:srgbClr val="EB8F22"/>
    </a:accent1>
    <a:accent2>
      <a:srgbClr val="CD4223"/>
    </a:accent2>
    <a:accent3>
      <a:srgbClr val="A89374"/>
    </a:accent3>
    <a:accent4>
      <a:srgbClr val="83AA67"/>
    </a:accent4>
    <a:accent5>
      <a:srgbClr val="4FA9C1"/>
    </a:accent5>
    <a:accent6>
      <a:srgbClr val="9390AF"/>
    </a:accent6>
    <a:hlink>
      <a:srgbClr val="EC7220"/>
    </a:hlink>
    <a:folHlink>
      <a:srgbClr val="F09355"/>
    </a:folHlink>
  </a:clrScheme>
</a:themeOverride>
</file>

<file path=ppt/theme/themeOverride9.xml><?xml version="1.0" encoding="utf-8"?>
<a:themeOverride xmlns:a="http://schemas.openxmlformats.org/drawingml/2006/main">
  <a:clrScheme name="Parallax">
    <a:dk1>
      <a:sysClr val="windowText" lastClr="000000"/>
    </a:dk1>
    <a:lt1>
      <a:sysClr val="window" lastClr="FFFFFF"/>
    </a:lt1>
    <a:dk2>
      <a:srgbClr val="212121"/>
    </a:dk2>
    <a:lt2>
      <a:srgbClr val="CDD0D1"/>
    </a:lt2>
    <a:accent1>
      <a:srgbClr val="EB8F22"/>
    </a:accent1>
    <a:accent2>
      <a:srgbClr val="CD4223"/>
    </a:accent2>
    <a:accent3>
      <a:srgbClr val="A89374"/>
    </a:accent3>
    <a:accent4>
      <a:srgbClr val="83AA67"/>
    </a:accent4>
    <a:accent5>
      <a:srgbClr val="4FA9C1"/>
    </a:accent5>
    <a:accent6>
      <a:srgbClr val="9390AF"/>
    </a:accent6>
    <a:hlink>
      <a:srgbClr val="EC7220"/>
    </a:hlink>
    <a:folHlink>
      <a:srgbClr val="F09355"/>
    </a:folHlink>
  </a:clrScheme>
</a:themeOverride>
</file>

<file path=ppt/theme/themeOverride10.xml><?xml version="1.0" encoding="utf-8"?>
<a:themeOverride xmlns:a="http://schemas.openxmlformats.org/drawingml/2006/main">
  <a:clrScheme name="Parallax">
    <a:dk1>
      <a:sysClr val="windowText" lastClr="000000"/>
    </a:dk1>
    <a:lt1>
      <a:sysClr val="window" lastClr="FFFFFF"/>
    </a:lt1>
    <a:dk2>
      <a:srgbClr val="212121"/>
    </a:dk2>
    <a:lt2>
      <a:srgbClr val="CDD0D1"/>
    </a:lt2>
    <a:accent1>
      <a:srgbClr val="EB8F22"/>
    </a:accent1>
    <a:accent2>
      <a:srgbClr val="CD4223"/>
    </a:accent2>
    <a:accent3>
      <a:srgbClr val="A89374"/>
    </a:accent3>
    <a:accent4>
      <a:srgbClr val="83AA67"/>
    </a:accent4>
    <a:accent5>
      <a:srgbClr val="4FA9C1"/>
    </a:accent5>
    <a:accent6>
      <a:srgbClr val="9390AF"/>
    </a:accent6>
    <a:hlink>
      <a:srgbClr val="EC7220"/>
    </a:hlink>
    <a:folHlink>
      <a:srgbClr val="F09355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1190</TotalTime>
  <Words>623</Words>
  <Application>Microsoft Office PowerPoint</Application>
  <PresentationFormat>Widescreen</PresentationFormat>
  <Paragraphs>71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MS Mincho</vt:lpstr>
      <vt:lpstr>Arial</vt:lpstr>
      <vt:lpstr>Corbel</vt:lpstr>
      <vt:lpstr>Eras Demi ITC</vt:lpstr>
      <vt:lpstr>Times New Roman</vt:lpstr>
      <vt:lpstr>Wingdings</vt:lpstr>
      <vt:lpstr>Parallax</vt:lpstr>
      <vt:lpstr>End-to-End E-Commerce Data Integration &amp; Business Intelligence Project </vt:lpstr>
      <vt:lpstr>Introduction</vt:lpstr>
      <vt:lpstr>Data Issues Identified</vt:lpstr>
      <vt:lpstr>Data Cleaning Process</vt:lpstr>
      <vt:lpstr>Data Merging Strategy</vt:lpstr>
      <vt:lpstr>PowerPoint Presentation</vt:lpstr>
      <vt:lpstr>Dashboard Explanation</vt:lpstr>
      <vt:lpstr>PowerPoint Presentation</vt:lpstr>
      <vt:lpstr>Key Insights</vt:lpstr>
      <vt:lpstr>Business Recommendations</vt:lpstr>
      <vt:lpstr>Group Names and Roles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TECHNOPACT CAPSTONE PROJECT</dc:title>
  <dc:creator>nametaginvalid</dc:creator>
  <cp:lastModifiedBy>nametaginvalid</cp:lastModifiedBy>
  <cp:revision>41</cp:revision>
  <dcterms:created xsi:type="dcterms:W3CDTF">2026-08-21T16:25:28Z</dcterms:created>
  <dcterms:modified xsi:type="dcterms:W3CDTF">2026-08-22T12:27:38Z</dcterms:modified>
</cp:coreProperties>
</file>